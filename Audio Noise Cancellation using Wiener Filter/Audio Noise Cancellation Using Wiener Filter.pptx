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1" r:id="rId1"/>
  </p:sldMasterIdLst>
  <p:sldIdLst>
    <p:sldId id="256" r:id="rId2"/>
    <p:sldId id="257" r:id="rId3"/>
    <p:sldId id="258" r:id="rId4"/>
    <p:sldId id="265" r:id="rId5"/>
    <p:sldId id="269" r:id="rId6"/>
    <p:sldId id="261" r:id="rId7"/>
    <p:sldId id="262" r:id="rId8"/>
    <p:sldId id="263" r:id="rId9"/>
    <p:sldId id="264" r:id="rId10"/>
    <p:sldId id="278" r:id="rId11"/>
    <p:sldId id="276" r:id="rId12"/>
    <p:sldId id="277" r:id="rId13"/>
    <p:sldId id="279"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777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33961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95023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3730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008237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63928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23090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84279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2324098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30751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3/26/2026</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682510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3/26/2026</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327484809"/>
      </p:ext>
    </p:extLst>
  </p:cSld>
  <p:clrMap bg1="dk1" tx1="lt1" bg2="dk2" tx2="lt2" accent1="accent1" accent2="accent2" accent3="accent3" accent4="accent4" accent5="accent5" accent6="accent6" hlink="hlink" folHlink="folHlink"/>
  <p:sldLayoutIdLst>
    <p:sldLayoutId id="2147484296" r:id="rId1"/>
    <p:sldLayoutId id="2147484297" r:id="rId2"/>
    <p:sldLayoutId id="2147484298" r:id="rId3"/>
    <p:sldLayoutId id="2147484299" r:id="rId4"/>
    <p:sldLayoutId id="2147484300" r:id="rId5"/>
    <p:sldLayoutId id="2147484294" r:id="rId6"/>
    <p:sldLayoutId id="2147484290" r:id="rId7"/>
    <p:sldLayoutId id="2147484291" r:id="rId8"/>
    <p:sldLayoutId id="2147484292" r:id="rId9"/>
    <p:sldLayoutId id="2147484293" r:id="rId10"/>
    <p:sldLayoutId id="2147484295"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 name="Rectangle 122">
            <a:extLst>
              <a:ext uri="{FF2B5EF4-FFF2-40B4-BE49-F238E27FC236}">
                <a16:creationId xmlns:a16="http://schemas.microsoft.com/office/drawing/2014/main" id="{C3B0A228-9EA3-4009-A82E-9402BBC72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436CF-B3D1-D090-54AC-D1575E4BDB38}"/>
              </a:ext>
            </a:extLst>
          </p:cNvPr>
          <p:cNvSpPr>
            <a:spLocks noGrp="1"/>
          </p:cNvSpPr>
          <p:nvPr>
            <p:ph type="ctrTitle"/>
          </p:nvPr>
        </p:nvSpPr>
        <p:spPr>
          <a:xfrm>
            <a:off x="723481" y="987289"/>
            <a:ext cx="5462955" cy="2847292"/>
          </a:xfrm>
        </p:spPr>
        <p:txBody>
          <a:bodyPr>
            <a:noAutofit/>
          </a:bodyPr>
          <a:lstStyle/>
          <a:p>
            <a:pPr>
              <a:lnSpc>
                <a:spcPct val="90000"/>
              </a:lnSpc>
            </a:pPr>
            <a:r>
              <a:rPr lang="en-IN" sz="3200" b="1" dirty="0">
                <a:solidFill>
                  <a:srgbClr val="FFFFFF"/>
                </a:solidFill>
              </a:rPr>
              <a:t>Audio Noise Cancellation using Wiener Filter</a:t>
            </a:r>
            <a:r>
              <a:rPr lang="en-US" sz="3200" dirty="0"/>
              <a:t>.</a:t>
            </a:r>
            <a:br>
              <a:rPr lang="en-US" sz="3200" b="1" dirty="0">
                <a:latin typeface="Aptos Black" panose="020B0004020202020204" pitchFamily="34" charset="0"/>
              </a:rPr>
            </a:br>
            <a:br>
              <a:rPr lang="en-US" sz="3200" b="1" dirty="0">
                <a:latin typeface="Aptos Black" panose="020B0004020202020204" pitchFamily="34" charset="0"/>
              </a:rPr>
            </a:br>
            <a:r>
              <a:rPr lang="en-US" sz="3200" b="1" dirty="0">
                <a:latin typeface="Aptos Black" panose="020B0004020202020204" pitchFamily="34" charset="0"/>
              </a:rPr>
              <a:t>                      </a:t>
            </a:r>
            <a:r>
              <a:rPr lang="en-US" sz="2000" b="1" dirty="0">
                <a:latin typeface="+mn-lt"/>
              </a:rPr>
              <a:t>~</a:t>
            </a:r>
            <a:r>
              <a:rPr lang="en-US" sz="1400" b="1" dirty="0">
                <a:latin typeface="+mn-lt"/>
              </a:rPr>
              <a:t> dsp seminar</a:t>
            </a:r>
            <a:endParaRPr lang="en-IN" sz="3200" b="1" dirty="0">
              <a:latin typeface="+mn-lt"/>
            </a:endParaRPr>
          </a:p>
        </p:txBody>
      </p:sp>
      <p:sp>
        <p:nvSpPr>
          <p:cNvPr id="3" name="Subtitle 2">
            <a:extLst>
              <a:ext uri="{FF2B5EF4-FFF2-40B4-BE49-F238E27FC236}">
                <a16:creationId xmlns:a16="http://schemas.microsoft.com/office/drawing/2014/main" id="{248E038F-A79E-96B7-CCB3-37736215E3FB}"/>
              </a:ext>
            </a:extLst>
          </p:cNvPr>
          <p:cNvSpPr>
            <a:spLocks noGrp="1"/>
          </p:cNvSpPr>
          <p:nvPr>
            <p:ph type="subTitle" idx="1"/>
          </p:nvPr>
        </p:nvSpPr>
        <p:spPr>
          <a:xfrm>
            <a:off x="723481" y="3428999"/>
            <a:ext cx="4622242" cy="2396837"/>
          </a:xfrm>
        </p:spPr>
        <p:txBody>
          <a:bodyPr anchor="b">
            <a:normAutofit/>
          </a:bodyPr>
          <a:lstStyle/>
          <a:p>
            <a:endParaRPr lang="en-IN" dirty="0">
              <a:latin typeface="Aptos ExtraBold" panose="020F0502020204030204" pitchFamily="34" charset="0"/>
            </a:endParaRPr>
          </a:p>
          <a:p>
            <a:r>
              <a:rPr lang="en-IN" dirty="0">
                <a:latin typeface="Aptos ExtraBold" panose="020F0502020204030204" pitchFamily="34" charset="0"/>
              </a:rPr>
              <a:t>24BML0069 – Surya Pratap Singh</a:t>
            </a:r>
          </a:p>
          <a:p>
            <a:r>
              <a:rPr lang="en-IN" dirty="0">
                <a:solidFill>
                  <a:srgbClr val="FFFF00"/>
                </a:solidFill>
                <a:latin typeface="Aptos ExtraBold" panose="020F0502020204030204" pitchFamily="34" charset="0"/>
              </a:rPr>
              <a:t>24BEC0066 – </a:t>
            </a:r>
            <a:r>
              <a:rPr lang="en-IN" dirty="0" err="1">
                <a:solidFill>
                  <a:srgbClr val="FFFF00"/>
                </a:solidFill>
                <a:latin typeface="Aptos ExtraBold" panose="020F0502020204030204" pitchFamily="34" charset="0"/>
              </a:rPr>
              <a:t>Srajan</a:t>
            </a:r>
            <a:r>
              <a:rPr lang="en-IN" dirty="0">
                <a:solidFill>
                  <a:srgbClr val="FFFF00"/>
                </a:solidFill>
                <a:latin typeface="Aptos ExtraBold" panose="020F0502020204030204" pitchFamily="34" charset="0"/>
              </a:rPr>
              <a:t> Gupta</a:t>
            </a:r>
          </a:p>
          <a:p>
            <a:endParaRPr lang="en-IN" dirty="0">
              <a:latin typeface="Aptos ExtraBold" panose="020F0502020204030204" pitchFamily="34" charset="0"/>
            </a:endParaRPr>
          </a:p>
        </p:txBody>
      </p:sp>
      <p:pic>
        <p:nvPicPr>
          <p:cNvPr id="4" name="Picture 3" descr="A colorful light bulb with business icons">
            <a:extLst>
              <a:ext uri="{FF2B5EF4-FFF2-40B4-BE49-F238E27FC236}">
                <a16:creationId xmlns:a16="http://schemas.microsoft.com/office/drawing/2014/main" id="{2B5FC052-6991-A557-1A47-9E483AF12A74}"/>
              </a:ext>
            </a:extLst>
          </p:cNvPr>
          <p:cNvPicPr>
            <a:picLocks noChangeAspect="1"/>
          </p:cNvPicPr>
          <p:nvPr/>
        </p:nvPicPr>
        <p:blipFill>
          <a:blip r:embed="rId2"/>
          <a:srcRect l="2085" r="5044" b="1"/>
          <a:stretch>
            <a:fillRect/>
          </a:stretch>
        </p:blipFill>
        <p:spPr>
          <a:xfrm>
            <a:off x="3093268" y="10"/>
            <a:ext cx="9098732" cy="6857990"/>
          </a:xfrm>
          <a:custGeom>
            <a:avLst/>
            <a:gdLst/>
            <a:ahLst/>
            <a:cxnLst/>
            <a:rect l="l" t="t" r="r" b="b"/>
            <a:pathLst>
              <a:path w="9098732" h="6858000">
                <a:moveTo>
                  <a:pt x="6010592" y="0"/>
                </a:moveTo>
                <a:lnTo>
                  <a:pt x="8235629" y="4"/>
                </a:lnTo>
                <a:cubicBezTo>
                  <a:pt x="8235629" y="3"/>
                  <a:pt x="8235630" y="3"/>
                  <a:pt x="8235630" y="2"/>
                </a:cubicBezTo>
                <a:lnTo>
                  <a:pt x="9098732" y="0"/>
                </a:lnTo>
                <a:lnTo>
                  <a:pt x="9098732" y="6858000"/>
                </a:lnTo>
                <a:lnTo>
                  <a:pt x="0" y="6858000"/>
                </a:lnTo>
                <a:lnTo>
                  <a:pt x="6010589" y="4"/>
                </a:lnTo>
                <a:cubicBezTo>
                  <a:pt x="6010589" y="3"/>
                  <a:pt x="6010590" y="3"/>
                  <a:pt x="6010590" y="2"/>
                </a:cubicBezTo>
                <a:close/>
              </a:path>
            </a:pathLst>
          </a:custGeom>
        </p:spPr>
      </p:pic>
      <p:sp>
        <p:nvSpPr>
          <p:cNvPr id="124" name="Freeform: Shape 123">
            <a:extLst>
              <a:ext uri="{FF2B5EF4-FFF2-40B4-BE49-F238E27FC236}">
                <a16:creationId xmlns:a16="http://schemas.microsoft.com/office/drawing/2014/main" id="{02E0C409-730D-455F-AA8F-0646ABDB1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8973" y="0"/>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alpha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078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5735-8B60-7CFF-E08E-EF55604FCB27}"/>
              </a:ext>
            </a:extLst>
          </p:cNvPr>
          <p:cNvSpPr>
            <a:spLocks noGrp="1"/>
          </p:cNvSpPr>
          <p:nvPr>
            <p:ph type="title"/>
          </p:nvPr>
        </p:nvSpPr>
        <p:spPr>
          <a:xfrm>
            <a:off x="-2504768" y="0"/>
            <a:ext cx="9905999" cy="1360898"/>
          </a:xfrm>
        </p:spPr>
        <p:txBody>
          <a:bodyPr/>
          <a:lstStyle/>
          <a:p>
            <a:r>
              <a:rPr lang="en-IN" dirty="0"/>
              <a:t>                         INTRODUCTION</a:t>
            </a:r>
          </a:p>
        </p:txBody>
      </p:sp>
      <p:sp>
        <p:nvSpPr>
          <p:cNvPr id="3" name="Content Placeholder 2">
            <a:extLst>
              <a:ext uri="{FF2B5EF4-FFF2-40B4-BE49-F238E27FC236}">
                <a16:creationId xmlns:a16="http://schemas.microsoft.com/office/drawing/2014/main" id="{EE578B47-478F-E185-0B2C-D529A51F78D2}"/>
              </a:ext>
            </a:extLst>
          </p:cNvPr>
          <p:cNvSpPr>
            <a:spLocks noGrp="1"/>
          </p:cNvSpPr>
          <p:nvPr>
            <p:ph idx="1"/>
          </p:nvPr>
        </p:nvSpPr>
        <p:spPr>
          <a:xfrm>
            <a:off x="1143000" y="2361523"/>
            <a:ext cx="9905999" cy="3567118"/>
          </a:xfrm>
        </p:spPr>
        <p:txBody>
          <a:bodyPr>
            <a:normAutofit lnSpcReduction="10000"/>
          </a:bodyPr>
          <a:lstStyle/>
          <a:p>
            <a:pPr marL="139700" indent="0">
              <a:buNone/>
            </a:pPr>
            <a:r>
              <a:rPr lang="en-US" dirty="0"/>
              <a:t>In real-world scenarios, audio signals are often corrupted by unwanted noise during recording or transmission. This noise can significantly degrade the quality and intelligibility of the signal. The observed signal can be mathematically represented as x(n) = s(n) + d(n), where x(n) is the noisy signal, s(n) is the original clean speech signal, and d(n) is the additive noise. The main objective of this project is to recover the clean signal from the noisy observation. Different types of noise affect audio signals, such as white Gaussian noise, which is random and spread across all frequencies, powerline interference at 50 or 60 Hz, wind or fan noise which mainly affects low frequencies, and babble noise caused by background conversations. The challenge is to effectively remove these noises while preserving the original signal characteristics.</a:t>
            </a:r>
          </a:p>
        </p:txBody>
      </p:sp>
    </p:spTree>
    <p:extLst>
      <p:ext uri="{BB962C8B-B14F-4D97-AF65-F5344CB8AC3E}">
        <p14:creationId xmlns:p14="http://schemas.microsoft.com/office/powerpoint/2010/main" val="1504406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6C3B-8549-9862-05D0-4E8718879790}"/>
              </a:ext>
            </a:extLst>
          </p:cNvPr>
          <p:cNvSpPr>
            <a:spLocks noGrp="1"/>
          </p:cNvSpPr>
          <p:nvPr>
            <p:ph type="title"/>
          </p:nvPr>
        </p:nvSpPr>
        <p:spPr>
          <a:xfrm>
            <a:off x="-1157748" y="0"/>
            <a:ext cx="9905999" cy="1360898"/>
          </a:xfrm>
        </p:spPr>
        <p:txBody>
          <a:bodyPr/>
          <a:lstStyle/>
          <a:p>
            <a:r>
              <a:rPr lang="en-IN" dirty="0"/>
              <a:t>            PURPOSE</a:t>
            </a:r>
          </a:p>
        </p:txBody>
      </p:sp>
      <p:sp>
        <p:nvSpPr>
          <p:cNvPr id="4" name="Content Placeholder 3">
            <a:extLst>
              <a:ext uri="{FF2B5EF4-FFF2-40B4-BE49-F238E27FC236}">
                <a16:creationId xmlns:a16="http://schemas.microsoft.com/office/drawing/2014/main" id="{FFE9D301-AEDE-999F-0193-E155609955D1}"/>
              </a:ext>
            </a:extLst>
          </p:cNvPr>
          <p:cNvSpPr>
            <a:spLocks noGrp="1"/>
          </p:cNvSpPr>
          <p:nvPr>
            <p:ph idx="1"/>
          </p:nvPr>
        </p:nvSpPr>
        <p:spPr/>
        <p:txBody>
          <a:bodyPr>
            <a:normAutofit fontScale="92500" lnSpcReduction="20000"/>
          </a:bodyPr>
          <a:lstStyle/>
          <a:p>
            <a:pPr marL="0" indent="0">
              <a:buNone/>
            </a:pPr>
            <a:r>
              <a:rPr lang="en-US" dirty="0"/>
              <a:t>The primary purpose is to design and implement an efficient audio noise cancellation system using the Wiener filter technique. In real-world environments, audio signals are often degraded by various types of noise, which reduces their clarity and usability. This project aims to recover the original clean signal from a noisy observation by minimizing the error between the actual and estimated signals. By applying Wiener filtering in the frequency domain, the system intelligently suppresses noise while preserving important speech components. The project also seeks to evaluate the effectiveness of the filter using performance metrics such as Signal-to-Noise Ratio (SNR) and spectrogram analysis. Overall, the goal is to demonstrate a practical and optimal signal processing approach for improving audio quality in applications like communication systems, medical signal processing, and speech recognition.</a:t>
            </a:r>
            <a:endParaRPr lang="en-IN" dirty="0"/>
          </a:p>
        </p:txBody>
      </p:sp>
    </p:spTree>
    <p:extLst>
      <p:ext uri="{BB962C8B-B14F-4D97-AF65-F5344CB8AC3E}">
        <p14:creationId xmlns:p14="http://schemas.microsoft.com/office/powerpoint/2010/main" val="2635609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308" y="0"/>
            <a:ext cx="6873692" cy="6858000"/>
          </a:xfrm>
          <a:custGeom>
            <a:avLst/>
            <a:gdLst/>
            <a:ahLst/>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2" name="Straight Connector 21">
            <a:extLst>
              <a:ext uri="{FF2B5EF4-FFF2-40B4-BE49-F238E27FC236}">
                <a16:creationId xmlns:a16="http://schemas.microsoft.com/office/drawing/2014/main" id="{4C75A547-BCD1-42BE-966E-53CA0AB9316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6D1F4DC3-EDAB-401A-BD21-33D25AB5F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059D4DD-D247-47C8-B574-B36CB222C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1127553" y="-1127553"/>
            <a:ext cx="6858000" cy="9113106"/>
          </a:xfrm>
          <a:custGeom>
            <a:avLst/>
            <a:gdLst>
              <a:gd name="connsiteX0" fmla="*/ 0 w 6858000"/>
              <a:gd name="connsiteY0" fmla="*/ 7143270 h 9113106"/>
              <a:gd name="connsiteX1" fmla="*/ 0 w 6858000"/>
              <a:gd name="connsiteY1" fmla="*/ 6878623 h 9113106"/>
              <a:gd name="connsiteX2" fmla="*/ 1 w 6858000"/>
              <a:gd name="connsiteY2" fmla="*/ 6878623 h 9113106"/>
              <a:gd name="connsiteX3" fmla="*/ 0 w 6858000"/>
              <a:gd name="connsiteY3" fmla="*/ 4319945 h 9113106"/>
              <a:gd name="connsiteX4" fmla="*/ 1 w 6858000"/>
              <a:gd name="connsiteY4" fmla="*/ 4319945 h 9113106"/>
              <a:gd name="connsiteX5" fmla="*/ 1 w 6858000"/>
              <a:gd name="connsiteY5" fmla="*/ 13542 h 9113106"/>
              <a:gd name="connsiteX6" fmla="*/ 0 w 6858000"/>
              <a:gd name="connsiteY6" fmla="*/ 13540 h 9113106"/>
              <a:gd name="connsiteX7" fmla="*/ 0 w 6858000"/>
              <a:gd name="connsiteY7" fmla="*/ 0 h 9113106"/>
              <a:gd name="connsiteX8" fmla="*/ 6858000 w 6858000"/>
              <a:gd name="connsiteY8" fmla="*/ 6010591 h 9113106"/>
              <a:gd name="connsiteX9" fmla="*/ 6858000 w 6858000"/>
              <a:gd name="connsiteY9" fmla="*/ 3794798 h 9113106"/>
              <a:gd name="connsiteX10" fmla="*/ 6858000 w 6858000"/>
              <a:gd name="connsiteY10" fmla="*/ 3794798 h 9113106"/>
              <a:gd name="connsiteX11" fmla="*/ 6858000 w 6858000"/>
              <a:gd name="connsiteY11" fmla="*/ 3837120 h 9113106"/>
              <a:gd name="connsiteX12" fmla="*/ 6858000 w 6858000"/>
              <a:gd name="connsiteY12" fmla="*/ 6838049 h 9113106"/>
              <a:gd name="connsiteX13" fmla="*/ 6858000 w 6858000"/>
              <a:gd name="connsiteY13" fmla="*/ 9113106 h 9113106"/>
              <a:gd name="connsiteX14" fmla="*/ 1 w 6858000"/>
              <a:gd name="connsiteY14" fmla="*/ 9113106 h 9113106"/>
              <a:gd name="connsiteX15" fmla="*/ 1 w 6858000"/>
              <a:gd name="connsiteY15" fmla="*/ 7143270 h 9113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9113106">
                <a:moveTo>
                  <a:pt x="0" y="7143270"/>
                </a:moveTo>
                <a:lnTo>
                  <a:pt x="0" y="6878623"/>
                </a:lnTo>
                <a:lnTo>
                  <a:pt x="1" y="6878623"/>
                </a:lnTo>
                <a:lnTo>
                  <a:pt x="0" y="4319945"/>
                </a:lnTo>
                <a:lnTo>
                  <a:pt x="1" y="4319945"/>
                </a:lnTo>
                <a:lnTo>
                  <a:pt x="1" y="13542"/>
                </a:lnTo>
                <a:lnTo>
                  <a:pt x="0" y="13540"/>
                </a:lnTo>
                <a:lnTo>
                  <a:pt x="0" y="0"/>
                </a:lnTo>
                <a:lnTo>
                  <a:pt x="6858000" y="6010591"/>
                </a:lnTo>
                <a:lnTo>
                  <a:pt x="6858000" y="3794798"/>
                </a:lnTo>
                <a:lnTo>
                  <a:pt x="6858000" y="3794798"/>
                </a:lnTo>
                <a:lnTo>
                  <a:pt x="6858000" y="3837120"/>
                </a:lnTo>
                <a:lnTo>
                  <a:pt x="6858000" y="6838049"/>
                </a:lnTo>
                <a:lnTo>
                  <a:pt x="6858000" y="9113106"/>
                </a:lnTo>
                <a:lnTo>
                  <a:pt x="1" y="9113106"/>
                </a:lnTo>
                <a:lnTo>
                  <a:pt x="1" y="7143270"/>
                </a:lnTo>
                <a:close/>
              </a:path>
            </a:pathLst>
          </a:cu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B7A1EB7-5A66-412F-B818-550F41621C85}"/>
              </a:ext>
            </a:extLst>
          </p:cNvPr>
          <p:cNvSpPr>
            <a:spLocks noGrp="1"/>
          </p:cNvSpPr>
          <p:nvPr>
            <p:ph type="title"/>
          </p:nvPr>
        </p:nvSpPr>
        <p:spPr>
          <a:xfrm>
            <a:off x="590341" y="290131"/>
            <a:ext cx="9527053" cy="2832404"/>
          </a:xfrm>
        </p:spPr>
        <p:txBody>
          <a:bodyPr vert="horz" lIns="91440" tIns="45720" rIns="91440" bIns="45720" rtlCol="0" anchor="t">
            <a:normAutofit/>
          </a:bodyPr>
          <a:lstStyle/>
          <a:p>
            <a:r>
              <a:rPr lang="en-US" dirty="0"/>
              <a:t>Where is Audio Noise Cancellation Used?</a:t>
            </a:r>
          </a:p>
        </p:txBody>
      </p:sp>
      <p:sp>
        <p:nvSpPr>
          <p:cNvPr id="4" name="Content Placeholder 3">
            <a:extLst>
              <a:ext uri="{FF2B5EF4-FFF2-40B4-BE49-F238E27FC236}">
                <a16:creationId xmlns:a16="http://schemas.microsoft.com/office/drawing/2014/main" id="{996677EF-0C1D-EA9C-6C98-979F602D0FE5}"/>
              </a:ext>
            </a:extLst>
          </p:cNvPr>
          <p:cNvSpPr>
            <a:spLocks noGrp="1"/>
          </p:cNvSpPr>
          <p:nvPr>
            <p:ph idx="1"/>
          </p:nvPr>
        </p:nvSpPr>
        <p:spPr>
          <a:xfrm>
            <a:off x="1143000" y="1553497"/>
            <a:ext cx="9905999" cy="4345647"/>
          </a:xfrm>
        </p:spPr>
        <p:txBody>
          <a:bodyPr>
            <a:normAutofit fontScale="92500" lnSpcReduction="20000"/>
          </a:bodyPr>
          <a:lstStyle/>
          <a:p>
            <a:r>
              <a:rPr lang="en-IN" dirty="0"/>
              <a:t>Noise-cancelling headphones remove ambient noise in real time.</a:t>
            </a:r>
          </a:p>
          <a:p>
            <a:r>
              <a:rPr lang="en-IN" dirty="0"/>
              <a:t>VoIP and video conferencing platforms (Zoom, Microsoft Teams, Google Meet) suppress background noise for clear communication. </a:t>
            </a:r>
          </a:p>
          <a:p>
            <a:r>
              <a:rPr lang="en-IN" dirty="0"/>
              <a:t>Medical signal processing (ECG, EEG) removes interference like powerline noise and artifacts. </a:t>
            </a:r>
          </a:p>
          <a:p>
            <a:r>
              <a:rPr lang="en-IN" dirty="0"/>
              <a:t>Hearing aids enhance speech clarity for hearing-impaired users. </a:t>
            </a:r>
          </a:p>
          <a:p>
            <a:r>
              <a:rPr lang="en-IN" dirty="0"/>
              <a:t>Automotive voice assistants filter engine, wind, and road noise for accurate voice commands. </a:t>
            </a:r>
          </a:p>
          <a:p>
            <a:r>
              <a:rPr lang="en-IN" dirty="0"/>
              <a:t>Speech recognition systems improve accuracy in noisy environments. </a:t>
            </a:r>
          </a:p>
          <a:p>
            <a:r>
              <a:rPr lang="en-IN" dirty="0"/>
              <a:t>Mobile phone calls use noise suppression to improve call quality. </a:t>
            </a:r>
          </a:p>
          <a:p>
            <a:r>
              <a:rPr lang="en-IN" dirty="0"/>
              <a:t>Broadcasting and recording studios use noise reduction for clean audio production.</a:t>
            </a:r>
          </a:p>
        </p:txBody>
      </p:sp>
    </p:spTree>
    <p:extLst>
      <p:ext uri="{BB962C8B-B14F-4D97-AF65-F5344CB8AC3E}">
        <p14:creationId xmlns:p14="http://schemas.microsoft.com/office/powerpoint/2010/main" val="729918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4EA1A-8FB8-CC38-A892-49E2504A93D3}"/>
              </a:ext>
            </a:extLst>
          </p:cNvPr>
          <p:cNvSpPr>
            <a:spLocks noGrp="1"/>
          </p:cNvSpPr>
          <p:nvPr>
            <p:ph type="title"/>
          </p:nvPr>
        </p:nvSpPr>
        <p:spPr>
          <a:xfrm>
            <a:off x="297426" y="125683"/>
            <a:ext cx="9905999" cy="1360898"/>
          </a:xfrm>
        </p:spPr>
        <p:txBody>
          <a:bodyPr/>
          <a:lstStyle/>
          <a:p>
            <a:r>
              <a:rPr lang="en-IN" dirty="0"/>
              <a:t>WIENER FILTER</a:t>
            </a:r>
          </a:p>
        </p:txBody>
      </p:sp>
      <p:sp>
        <p:nvSpPr>
          <p:cNvPr id="3" name="Rectangle 1">
            <a:extLst>
              <a:ext uri="{FF2B5EF4-FFF2-40B4-BE49-F238E27FC236}">
                <a16:creationId xmlns:a16="http://schemas.microsoft.com/office/drawing/2014/main" id="{0E7A887C-A4CE-2ACF-C5C3-1D6967DAD2A1}"/>
              </a:ext>
            </a:extLst>
          </p:cNvPr>
          <p:cNvSpPr>
            <a:spLocks noGrp="1" noChangeArrowheads="1"/>
          </p:cNvSpPr>
          <p:nvPr>
            <p:ph idx="1"/>
          </p:nvPr>
        </p:nvSpPr>
        <p:spPr bwMode="auto">
          <a:xfrm>
            <a:off x="297426" y="1038967"/>
            <a:ext cx="1105777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Wiener filter is an optimal linear filter used to remove noise from a corrupted signal. It minimizes the Mean Square Error (MSE) between the original signal and the estimated output. The filter works in the frequency domain using the Power Spectral Density (PSD) of both the signal and noise. It adapts its response by allowing frequencies with high signal power to pass while suppressing noise-dominated components. It assumes that the signal and noise are uncorrelated and stationary. Due to its optimal performance, it is widely used in audio, image, and communication systems.</a:t>
            </a:r>
            <a:r>
              <a:rPr lang="en-US" altLang="en-US" sz="1800" dirty="0">
                <a:latin typeface="Arial" panose="020B0604020202020204" pitchFamily="34" charset="0"/>
              </a:rPr>
              <a:t> Equations are: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6" name="Picture 5">
            <a:extLst>
              <a:ext uri="{FF2B5EF4-FFF2-40B4-BE49-F238E27FC236}">
                <a16:creationId xmlns:a16="http://schemas.microsoft.com/office/drawing/2014/main" id="{3F9EF85C-E4E6-B29D-EAED-093BD43C4DE3}"/>
              </a:ext>
            </a:extLst>
          </p:cNvPr>
          <p:cNvPicPr>
            <a:picLocks noChangeAspect="1"/>
          </p:cNvPicPr>
          <p:nvPr/>
        </p:nvPicPr>
        <p:blipFill>
          <a:blip r:embed="rId2"/>
          <a:stretch>
            <a:fillRect/>
          </a:stretch>
        </p:blipFill>
        <p:spPr>
          <a:xfrm>
            <a:off x="3551546" y="3185652"/>
            <a:ext cx="4549534" cy="2811278"/>
          </a:xfrm>
          <a:prstGeom prst="rect">
            <a:avLst/>
          </a:prstGeom>
        </p:spPr>
      </p:pic>
    </p:spTree>
    <p:extLst>
      <p:ext uri="{BB962C8B-B14F-4D97-AF65-F5344CB8AC3E}">
        <p14:creationId xmlns:p14="http://schemas.microsoft.com/office/powerpoint/2010/main" val="1592575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0746" y="168379"/>
            <a:ext cx="11430000" cy="707886"/>
          </a:xfrm>
          <a:prstGeom prst="rect">
            <a:avLst/>
          </a:prstGeom>
          <a:noFill/>
        </p:spPr>
        <p:txBody>
          <a:bodyPr wrap="square">
            <a:spAutoFit/>
          </a:bodyPr>
          <a:lstStyle/>
          <a:p>
            <a:pPr algn="l"/>
            <a:r>
              <a:rPr sz="4000" dirty="0">
                <a:solidFill>
                  <a:srgbClr val="FFFFFF"/>
                </a:solidFill>
              </a:rPr>
              <a:t>System Block Diagram</a:t>
            </a:r>
          </a:p>
        </p:txBody>
      </p:sp>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6</a:t>
            </a:r>
          </a:p>
        </p:txBody>
      </p:sp>
      <p:sp>
        <p:nvSpPr>
          <p:cNvPr id="7" name="TextBox 6"/>
          <p:cNvSpPr txBox="1"/>
          <p:nvPr/>
        </p:nvSpPr>
        <p:spPr>
          <a:xfrm>
            <a:off x="458788" y="982865"/>
            <a:ext cx="2314352" cy="323165"/>
          </a:xfrm>
          <a:prstGeom prst="rect">
            <a:avLst/>
          </a:prstGeom>
          <a:noFill/>
        </p:spPr>
        <p:txBody>
          <a:bodyPr wrap="none">
            <a:spAutoFit/>
          </a:bodyPr>
          <a:lstStyle/>
          <a:p>
            <a:pPr algn="l"/>
            <a:r>
              <a:rPr sz="1500" b="1" dirty="0"/>
              <a:t>Processing Pipeline</a:t>
            </a:r>
          </a:p>
        </p:txBody>
      </p:sp>
      <p:sp>
        <p:nvSpPr>
          <p:cNvPr id="8" name="Rectangle 7"/>
          <p:cNvSpPr/>
          <p:nvPr/>
        </p:nvSpPr>
        <p:spPr>
          <a:xfrm>
            <a:off x="367348" y="1828800"/>
            <a:ext cx="1920240" cy="1005840"/>
          </a:xfrm>
          <a:prstGeom prst="rect">
            <a:avLst/>
          </a:prstGeom>
          <a:solidFill>
            <a:srgbClr val="F5F5F5"/>
          </a:solidFill>
          <a:ln w="95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8788" y="1993393"/>
            <a:ext cx="1755648" cy="461665"/>
          </a:xfrm>
          <a:prstGeom prst="rect">
            <a:avLst/>
          </a:prstGeom>
          <a:noFill/>
        </p:spPr>
        <p:txBody>
          <a:bodyPr wrap="square">
            <a:spAutoFit/>
          </a:bodyPr>
          <a:lstStyle/>
          <a:p>
            <a:pPr algn="ctr"/>
            <a:r>
              <a:rPr sz="1200" b="1">
                <a:solidFill>
                  <a:srgbClr val="003366"/>
                </a:solidFill>
              </a:rPr>
              <a:t>Clean Speech
s(n)</a:t>
            </a:r>
          </a:p>
        </p:txBody>
      </p:sp>
      <p:sp>
        <p:nvSpPr>
          <p:cNvPr id="10" name="Rectangle 9"/>
          <p:cNvSpPr/>
          <p:nvPr/>
        </p:nvSpPr>
        <p:spPr>
          <a:xfrm>
            <a:off x="2607628" y="1828800"/>
            <a:ext cx="1920240" cy="1005840"/>
          </a:xfrm>
          <a:prstGeom prst="rect">
            <a:avLst/>
          </a:prstGeom>
          <a:solidFill>
            <a:srgbClr val="F5F5F5"/>
          </a:solidFill>
          <a:ln w="95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99068" y="1993393"/>
            <a:ext cx="1755648" cy="461665"/>
          </a:xfrm>
          <a:prstGeom prst="rect">
            <a:avLst/>
          </a:prstGeom>
          <a:noFill/>
        </p:spPr>
        <p:txBody>
          <a:bodyPr wrap="square">
            <a:spAutoFit/>
          </a:bodyPr>
          <a:lstStyle/>
          <a:p>
            <a:pPr algn="ctr"/>
            <a:r>
              <a:rPr sz="1200" b="1">
                <a:solidFill>
                  <a:srgbClr val="003366"/>
                </a:solidFill>
              </a:rPr>
              <a:t>Add Noise
d(n)</a:t>
            </a:r>
          </a:p>
        </p:txBody>
      </p:sp>
      <p:sp>
        <p:nvSpPr>
          <p:cNvPr id="12" name="Rectangle 11"/>
          <p:cNvSpPr/>
          <p:nvPr/>
        </p:nvSpPr>
        <p:spPr>
          <a:xfrm>
            <a:off x="4847908" y="1828800"/>
            <a:ext cx="2194560" cy="1005840"/>
          </a:xfrm>
          <a:prstGeom prst="rect">
            <a:avLst/>
          </a:prstGeom>
          <a:solidFill>
            <a:srgbClr val="F5F5F5"/>
          </a:solidFill>
          <a:ln w="95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39348" y="1993393"/>
            <a:ext cx="2029967" cy="461665"/>
          </a:xfrm>
          <a:prstGeom prst="rect">
            <a:avLst/>
          </a:prstGeom>
          <a:noFill/>
        </p:spPr>
        <p:txBody>
          <a:bodyPr wrap="square">
            <a:spAutoFit/>
          </a:bodyPr>
          <a:lstStyle/>
          <a:p>
            <a:pPr algn="ctr"/>
            <a:r>
              <a:rPr sz="1200" b="1">
                <a:solidFill>
                  <a:srgbClr val="003366"/>
                </a:solidFill>
              </a:rPr>
              <a:t>Noisy Signal
x(n) = s+d</a:t>
            </a:r>
          </a:p>
        </p:txBody>
      </p:sp>
      <p:sp>
        <p:nvSpPr>
          <p:cNvPr id="14" name="Rectangle 13"/>
          <p:cNvSpPr/>
          <p:nvPr/>
        </p:nvSpPr>
        <p:spPr>
          <a:xfrm>
            <a:off x="7362508" y="1828800"/>
            <a:ext cx="2194560" cy="1005840"/>
          </a:xfrm>
          <a:prstGeom prst="rect">
            <a:avLst/>
          </a:prstGeom>
          <a:solidFill>
            <a:srgbClr val="F5F5F5"/>
          </a:solidFill>
          <a:ln w="95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53949" y="1993393"/>
            <a:ext cx="2029967" cy="461665"/>
          </a:xfrm>
          <a:prstGeom prst="rect">
            <a:avLst/>
          </a:prstGeom>
          <a:noFill/>
        </p:spPr>
        <p:txBody>
          <a:bodyPr wrap="square">
            <a:spAutoFit/>
          </a:bodyPr>
          <a:lstStyle/>
          <a:p>
            <a:pPr algn="ctr"/>
            <a:r>
              <a:rPr sz="1200" b="1">
                <a:solidFill>
                  <a:srgbClr val="003366"/>
                </a:solidFill>
              </a:rPr>
              <a:t>Wiener Filter
H(w)</a:t>
            </a:r>
          </a:p>
        </p:txBody>
      </p:sp>
      <p:sp>
        <p:nvSpPr>
          <p:cNvPr id="16" name="Rectangle 15"/>
          <p:cNvSpPr/>
          <p:nvPr/>
        </p:nvSpPr>
        <p:spPr>
          <a:xfrm>
            <a:off x="9877108" y="1828800"/>
            <a:ext cx="1920240" cy="1005840"/>
          </a:xfrm>
          <a:prstGeom prst="rect">
            <a:avLst/>
          </a:prstGeom>
          <a:solidFill>
            <a:srgbClr val="F5F5F5"/>
          </a:solidFill>
          <a:ln w="95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68548" y="1993393"/>
            <a:ext cx="1755648" cy="461665"/>
          </a:xfrm>
          <a:prstGeom prst="rect">
            <a:avLst/>
          </a:prstGeom>
          <a:noFill/>
        </p:spPr>
        <p:txBody>
          <a:bodyPr wrap="square">
            <a:spAutoFit/>
          </a:bodyPr>
          <a:lstStyle/>
          <a:p>
            <a:pPr algn="ctr"/>
            <a:r>
              <a:rPr sz="1200" b="1">
                <a:solidFill>
                  <a:srgbClr val="003366"/>
                </a:solidFill>
              </a:rPr>
              <a:t>Enhanced
s_hat(n)</a:t>
            </a:r>
          </a:p>
        </p:txBody>
      </p:sp>
      <p:sp>
        <p:nvSpPr>
          <p:cNvPr id="18" name="TextBox 17"/>
          <p:cNvSpPr txBox="1"/>
          <p:nvPr/>
        </p:nvSpPr>
        <p:spPr>
          <a:xfrm>
            <a:off x="2287588" y="2148841"/>
            <a:ext cx="365760" cy="461665"/>
          </a:xfrm>
          <a:prstGeom prst="rect">
            <a:avLst/>
          </a:prstGeom>
          <a:noFill/>
        </p:spPr>
        <p:txBody>
          <a:bodyPr wrap="square">
            <a:spAutoFit/>
          </a:bodyPr>
          <a:lstStyle/>
          <a:p>
            <a:pPr algn="l"/>
            <a:r>
              <a:rPr sz="1200" b="1">
                <a:solidFill>
                  <a:srgbClr val="333333"/>
                </a:solidFill>
              </a:rPr>
              <a:t>--&gt;</a:t>
            </a:r>
          </a:p>
        </p:txBody>
      </p:sp>
      <p:sp>
        <p:nvSpPr>
          <p:cNvPr id="19" name="TextBox 18"/>
          <p:cNvSpPr txBox="1"/>
          <p:nvPr/>
        </p:nvSpPr>
        <p:spPr>
          <a:xfrm>
            <a:off x="4527868" y="2148841"/>
            <a:ext cx="365760" cy="461665"/>
          </a:xfrm>
          <a:prstGeom prst="rect">
            <a:avLst/>
          </a:prstGeom>
          <a:noFill/>
        </p:spPr>
        <p:txBody>
          <a:bodyPr wrap="square">
            <a:spAutoFit/>
          </a:bodyPr>
          <a:lstStyle/>
          <a:p>
            <a:pPr algn="l"/>
            <a:r>
              <a:rPr sz="1200" b="1">
                <a:solidFill>
                  <a:srgbClr val="333333"/>
                </a:solidFill>
              </a:rPr>
              <a:t>--&gt;</a:t>
            </a:r>
          </a:p>
        </p:txBody>
      </p:sp>
      <p:sp>
        <p:nvSpPr>
          <p:cNvPr id="20" name="TextBox 19"/>
          <p:cNvSpPr txBox="1"/>
          <p:nvPr/>
        </p:nvSpPr>
        <p:spPr>
          <a:xfrm>
            <a:off x="7042468" y="2148841"/>
            <a:ext cx="365760" cy="461665"/>
          </a:xfrm>
          <a:prstGeom prst="rect">
            <a:avLst/>
          </a:prstGeom>
          <a:noFill/>
        </p:spPr>
        <p:txBody>
          <a:bodyPr wrap="square">
            <a:spAutoFit/>
          </a:bodyPr>
          <a:lstStyle/>
          <a:p>
            <a:pPr algn="l"/>
            <a:r>
              <a:rPr sz="1200" b="1">
                <a:solidFill>
                  <a:srgbClr val="333333"/>
                </a:solidFill>
              </a:rPr>
              <a:t>--&gt;</a:t>
            </a:r>
          </a:p>
        </p:txBody>
      </p:sp>
      <p:sp>
        <p:nvSpPr>
          <p:cNvPr id="21" name="TextBox 20"/>
          <p:cNvSpPr txBox="1"/>
          <p:nvPr/>
        </p:nvSpPr>
        <p:spPr>
          <a:xfrm>
            <a:off x="9557068" y="2148841"/>
            <a:ext cx="365760" cy="461665"/>
          </a:xfrm>
          <a:prstGeom prst="rect">
            <a:avLst/>
          </a:prstGeom>
          <a:noFill/>
        </p:spPr>
        <p:txBody>
          <a:bodyPr wrap="square">
            <a:spAutoFit/>
          </a:bodyPr>
          <a:lstStyle/>
          <a:p>
            <a:pPr algn="l"/>
            <a:r>
              <a:rPr sz="1200" b="1">
                <a:solidFill>
                  <a:srgbClr val="333333"/>
                </a:solidFill>
              </a:rPr>
              <a:t>--&gt;</a:t>
            </a:r>
          </a:p>
        </p:txBody>
      </p:sp>
      <p:sp>
        <p:nvSpPr>
          <p:cNvPr id="22" name="Rectangle 21"/>
          <p:cNvSpPr/>
          <p:nvPr/>
        </p:nvSpPr>
        <p:spPr>
          <a:xfrm>
            <a:off x="3247708" y="1097280"/>
            <a:ext cx="45720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48876" y="1115569"/>
            <a:ext cx="182880" cy="276999"/>
          </a:xfrm>
          <a:prstGeom prst="rect">
            <a:avLst/>
          </a:prstGeom>
          <a:noFill/>
        </p:spPr>
        <p:txBody>
          <a:bodyPr wrap="square">
            <a:spAutoFit/>
          </a:bodyPr>
          <a:lstStyle/>
          <a:p>
            <a:pPr algn="ctr"/>
            <a:r>
              <a:rPr sz="1200">
                <a:solidFill>
                  <a:srgbClr val="003366"/>
                </a:solidFill>
              </a:rPr>
              <a:t>|</a:t>
            </a:r>
          </a:p>
        </p:txBody>
      </p:sp>
      <p:sp>
        <p:nvSpPr>
          <p:cNvPr id="25" name="TextBox 24"/>
          <p:cNvSpPr txBox="1"/>
          <p:nvPr/>
        </p:nvSpPr>
        <p:spPr>
          <a:xfrm>
            <a:off x="3403156" y="1719072"/>
            <a:ext cx="228600" cy="261610"/>
          </a:xfrm>
          <a:prstGeom prst="rect">
            <a:avLst/>
          </a:prstGeom>
          <a:noFill/>
        </p:spPr>
        <p:txBody>
          <a:bodyPr wrap="square">
            <a:spAutoFit/>
          </a:bodyPr>
          <a:lstStyle/>
          <a:p>
            <a:pPr algn="l"/>
            <a:r>
              <a:rPr sz="1100" b="1">
                <a:solidFill>
                  <a:srgbClr val="003366"/>
                </a:solidFill>
              </a:rPr>
              <a:t>v</a:t>
            </a:r>
          </a:p>
        </p:txBody>
      </p:sp>
      <p:sp>
        <p:nvSpPr>
          <p:cNvPr id="26" name="TextBox 25"/>
          <p:cNvSpPr txBox="1"/>
          <p:nvPr/>
        </p:nvSpPr>
        <p:spPr>
          <a:xfrm>
            <a:off x="367348" y="2926081"/>
            <a:ext cx="1920240" cy="246221"/>
          </a:xfrm>
          <a:prstGeom prst="rect">
            <a:avLst/>
          </a:prstGeom>
          <a:noFill/>
        </p:spPr>
        <p:txBody>
          <a:bodyPr wrap="square">
            <a:spAutoFit/>
          </a:bodyPr>
          <a:lstStyle/>
          <a:p>
            <a:pPr algn="ctr"/>
            <a:r>
              <a:rPr sz="1000">
                <a:solidFill>
                  <a:srgbClr val="666666"/>
                </a:solidFill>
              </a:rPr>
              <a:t>Step 1</a:t>
            </a:r>
          </a:p>
        </p:txBody>
      </p:sp>
      <p:sp>
        <p:nvSpPr>
          <p:cNvPr id="27" name="TextBox 26"/>
          <p:cNvSpPr txBox="1"/>
          <p:nvPr/>
        </p:nvSpPr>
        <p:spPr>
          <a:xfrm>
            <a:off x="2607628" y="2926081"/>
            <a:ext cx="1920240" cy="246221"/>
          </a:xfrm>
          <a:prstGeom prst="rect">
            <a:avLst/>
          </a:prstGeom>
          <a:noFill/>
        </p:spPr>
        <p:txBody>
          <a:bodyPr wrap="square">
            <a:spAutoFit/>
          </a:bodyPr>
          <a:lstStyle/>
          <a:p>
            <a:pPr algn="ctr"/>
            <a:r>
              <a:rPr sz="1000">
                <a:solidFill>
                  <a:srgbClr val="666666"/>
                </a:solidFill>
              </a:rPr>
              <a:t>Step 2</a:t>
            </a:r>
          </a:p>
        </p:txBody>
      </p:sp>
      <p:sp>
        <p:nvSpPr>
          <p:cNvPr id="28" name="TextBox 27"/>
          <p:cNvSpPr txBox="1"/>
          <p:nvPr/>
        </p:nvSpPr>
        <p:spPr>
          <a:xfrm>
            <a:off x="4847908" y="2926081"/>
            <a:ext cx="2194560" cy="246221"/>
          </a:xfrm>
          <a:prstGeom prst="rect">
            <a:avLst/>
          </a:prstGeom>
          <a:noFill/>
        </p:spPr>
        <p:txBody>
          <a:bodyPr wrap="square">
            <a:spAutoFit/>
          </a:bodyPr>
          <a:lstStyle/>
          <a:p>
            <a:pPr algn="ctr"/>
            <a:r>
              <a:rPr sz="1000">
                <a:solidFill>
                  <a:srgbClr val="666666"/>
                </a:solidFill>
              </a:rPr>
              <a:t>Step 3</a:t>
            </a:r>
          </a:p>
        </p:txBody>
      </p:sp>
      <p:sp>
        <p:nvSpPr>
          <p:cNvPr id="29" name="TextBox 28"/>
          <p:cNvSpPr txBox="1"/>
          <p:nvPr/>
        </p:nvSpPr>
        <p:spPr>
          <a:xfrm>
            <a:off x="7362508" y="2926081"/>
            <a:ext cx="2194560" cy="246221"/>
          </a:xfrm>
          <a:prstGeom prst="rect">
            <a:avLst/>
          </a:prstGeom>
          <a:noFill/>
        </p:spPr>
        <p:txBody>
          <a:bodyPr wrap="square">
            <a:spAutoFit/>
          </a:bodyPr>
          <a:lstStyle/>
          <a:p>
            <a:pPr algn="ctr"/>
            <a:r>
              <a:rPr sz="1000">
                <a:solidFill>
                  <a:srgbClr val="666666"/>
                </a:solidFill>
              </a:rPr>
              <a:t>Step 4</a:t>
            </a:r>
          </a:p>
        </p:txBody>
      </p:sp>
      <p:sp>
        <p:nvSpPr>
          <p:cNvPr id="30" name="TextBox 29"/>
          <p:cNvSpPr txBox="1"/>
          <p:nvPr/>
        </p:nvSpPr>
        <p:spPr>
          <a:xfrm>
            <a:off x="9877108" y="2926081"/>
            <a:ext cx="1920240" cy="246221"/>
          </a:xfrm>
          <a:prstGeom prst="rect">
            <a:avLst/>
          </a:prstGeom>
          <a:noFill/>
        </p:spPr>
        <p:txBody>
          <a:bodyPr wrap="square">
            <a:spAutoFit/>
          </a:bodyPr>
          <a:lstStyle/>
          <a:p>
            <a:pPr algn="ctr"/>
            <a:r>
              <a:rPr sz="1000">
                <a:solidFill>
                  <a:srgbClr val="666666"/>
                </a:solidFill>
              </a:rPr>
              <a:t>Step 5</a:t>
            </a:r>
          </a:p>
        </p:txBody>
      </p:sp>
      <p:sp>
        <p:nvSpPr>
          <p:cNvPr id="31" name="TextBox 30"/>
          <p:cNvSpPr txBox="1"/>
          <p:nvPr/>
        </p:nvSpPr>
        <p:spPr>
          <a:xfrm>
            <a:off x="458788" y="3429001"/>
            <a:ext cx="2112181" cy="338554"/>
          </a:xfrm>
          <a:prstGeom prst="rect">
            <a:avLst/>
          </a:prstGeom>
          <a:noFill/>
        </p:spPr>
        <p:txBody>
          <a:bodyPr wrap="none">
            <a:spAutoFit/>
          </a:bodyPr>
          <a:lstStyle/>
          <a:p>
            <a:pPr algn="l"/>
            <a:r>
              <a:rPr sz="1600" b="1" dirty="0"/>
              <a:t>Metric Evaluated</a:t>
            </a:r>
          </a:p>
        </p:txBody>
      </p:sp>
      <p:sp>
        <p:nvSpPr>
          <p:cNvPr id="32" name="TextBox 31"/>
          <p:cNvSpPr txBox="1"/>
          <p:nvPr/>
        </p:nvSpPr>
        <p:spPr>
          <a:xfrm>
            <a:off x="458788" y="3886201"/>
            <a:ext cx="11430000" cy="1546577"/>
          </a:xfrm>
          <a:prstGeom prst="rect">
            <a:avLst/>
          </a:prstGeom>
          <a:noFill/>
        </p:spPr>
        <p:txBody>
          <a:bodyPr wrap="square">
            <a:spAutoFit/>
          </a:bodyPr>
          <a:lstStyle/>
          <a:p>
            <a:pPr>
              <a:spcAft>
                <a:spcPts val="900"/>
              </a:spcAft>
            </a:pPr>
            <a:r>
              <a:rPr dirty="0"/>
              <a:t>- SNR (Signal-to-Noise Ratio)   : </a:t>
            </a:r>
            <a:r>
              <a:rPr dirty="0" err="1"/>
              <a:t>snr_before</a:t>
            </a:r>
            <a:r>
              <a:rPr dirty="0"/>
              <a:t> and </a:t>
            </a:r>
            <a:r>
              <a:rPr dirty="0" err="1"/>
              <a:t>snr_after</a:t>
            </a:r>
            <a:r>
              <a:rPr dirty="0"/>
              <a:t> computed using MATLAB snr() function</a:t>
            </a:r>
            <a:r>
              <a:rPr lang="en-IN" dirty="0"/>
              <a:t>.</a:t>
            </a:r>
            <a:endParaRPr dirty="0"/>
          </a:p>
          <a:p>
            <a:pPr>
              <a:spcAft>
                <a:spcPts val="900"/>
              </a:spcAft>
            </a:pPr>
            <a:r>
              <a:rPr dirty="0"/>
              <a:t>- PSNR (Peak SNR)               : quantifies reconstruction quality at different amplitudes</a:t>
            </a:r>
            <a:r>
              <a:rPr lang="en-IN" dirty="0"/>
              <a:t>.</a:t>
            </a:r>
            <a:endParaRPr dirty="0"/>
          </a:p>
          <a:p>
            <a:pPr>
              <a:spcAft>
                <a:spcPts val="900"/>
              </a:spcAft>
            </a:pPr>
            <a:r>
              <a:rPr dirty="0"/>
              <a:t>- Spectrogram Comparison        : visual check using spectrogram() in MATLAB</a:t>
            </a:r>
            <a:r>
              <a:rPr lang="en-IN" dirty="0"/>
              <a:t>.</a:t>
            </a:r>
            <a:endParaRPr dirty="0"/>
          </a:p>
          <a:p>
            <a:pPr>
              <a:spcAft>
                <a:spcPts val="900"/>
              </a:spcAft>
            </a:pPr>
            <a:r>
              <a:rPr dirty="0"/>
              <a:t>- Listening Test                : </a:t>
            </a:r>
            <a:r>
              <a:rPr dirty="0" err="1"/>
              <a:t>soundsc</a:t>
            </a:r>
            <a:r>
              <a:rPr dirty="0"/>
              <a:t>() used to play clean, noisy, and enhanced signals</a:t>
            </a:r>
            <a:r>
              <a:rPr lang="en-IN" dirty="0"/>
              <a: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5908" y="73152"/>
            <a:ext cx="11430000" cy="369332"/>
          </a:xfrm>
          <a:prstGeom prst="rect">
            <a:avLst/>
          </a:prstGeom>
          <a:noFill/>
        </p:spPr>
        <p:txBody>
          <a:bodyPr wrap="square">
            <a:spAutoFit/>
          </a:bodyPr>
          <a:lstStyle/>
          <a:p>
            <a:pPr algn="l"/>
            <a:r>
              <a:rPr b="1">
                <a:solidFill>
                  <a:srgbClr val="FFFFFF"/>
                </a:solidFill>
              </a:rPr>
              <a:t>MATLAB Code - Part 1: Load Signal and Add Noise</a:t>
            </a:r>
          </a:p>
        </p:txBody>
      </p:sp>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7</a:t>
            </a:r>
          </a:p>
        </p:txBody>
      </p:sp>
      <p:sp>
        <p:nvSpPr>
          <p:cNvPr id="7" name="TextBox 6"/>
          <p:cNvSpPr txBox="1"/>
          <p:nvPr/>
        </p:nvSpPr>
        <p:spPr>
          <a:xfrm>
            <a:off x="458788" y="804673"/>
            <a:ext cx="3722686" cy="323165"/>
          </a:xfrm>
          <a:prstGeom prst="rect">
            <a:avLst/>
          </a:prstGeom>
          <a:noFill/>
        </p:spPr>
        <p:txBody>
          <a:bodyPr wrap="none">
            <a:spAutoFit/>
          </a:bodyPr>
          <a:lstStyle/>
          <a:p>
            <a:pPr algn="l"/>
            <a:r>
              <a:rPr sz="1500" b="1" dirty="0"/>
              <a:t>Step 1: Load Audio and Normalize</a:t>
            </a:r>
          </a:p>
        </p:txBody>
      </p:sp>
      <p:sp>
        <p:nvSpPr>
          <p:cNvPr id="10" name="TextBox 9"/>
          <p:cNvSpPr txBox="1"/>
          <p:nvPr/>
        </p:nvSpPr>
        <p:spPr>
          <a:xfrm>
            <a:off x="458788" y="3749040"/>
            <a:ext cx="3691716" cy="323165"/>
          </a:xfrm>
          <a:prstGeom prst="rect">
            <a:avLst/>
          </a:prstGeom>
          <a:noFill/>
        </p:spPr>
        <p:txBody>
          <a:bodyPr wrap="none">
            <a:spAutoFit/>
          </a:bodyPr>
          <a:lstStyle/>
          <a:p>
            <a:pPr algn="l"/>
            <a:r>
              <a:rPr sz="1500" b="1" dirty="0"/>
              <a:t>Step 2: Add White Gaussian Noise</a:t>
            </a:r>
          </a:p>
        </p:txBody>
      </p:sp>
      <p:pic>
        <p:nvPicPr>
          <p:cNvPr id="19" name="Picture 18">
            <a:extLst>
              <a:ext uri="{FF2B5EF4-FFF2-40B4-BE49-F238E27FC236}">
                <a16:creationId xmlns:a16="http://schemas.microsoft.com/office/drawing/2014/main" id="{C664D844-86D1-1CD5-F0DD-19A59407AF76}"/>
              </a:ext>
            </a:extLst>
          </p:cNvPr>
          <p:cNvPicPr>
            <a:picLocks noChangeAspect="1"/>
          </p:cNvPicPr>
          <p:nvPr/>
        </p:nvPicPr>
        <p:blipFill>
          <a:blip r:embed="rId2"/>
          <a:stretch>
            <a:fillRect/>
          </a:stretch>
        </p:blipFill>
        <p:spPr>
          <a:xfrm>
            <a:off x="617182" y="1277835"/>
            <a:ext cx="8566147" cy="2331720"/>
          </a:xfrm>
          <a:prstGeom prst="rect">
            <a:avLst/>
          </a:prstGeom>
        </p:spPr>
      </p:pic>
      <p:pic>
        <p:nvPicPr>
          <p:cNvPr id="21" name="Picture 20">
            <a:extLst>
              <a:ext uri="{FF2B5EF4-FFF2-40B4-BE49-F238E27FC236}">
                <a16:creationId xmlns:a16="http://schemas.microsoft.com/office/drawing/2014/main" id="{5061322F-4631-0ABC-8649-43DD0CFDB6E8}"/>
              </a:ext>
            </a:extLst>
          </p:cNvPr>
          <p:cNvPicPr>
            <a:picLocks noChangeAspect="1"/>
          </p:cNvPicPr>
          <p:nvPr/>
        </p:nvPicPr>
        <p:blipFill>
          <a:blip r:embed="rId3"/>
          <a:stretch>
            <a:fillRect/>
          </a:stretch>
        </p:blipFill>
        <p:spPr>
          <a:xfrm>
            <a:off x="707923" y="4209366"/>
            <a:ext cx="8327922" cy="19208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5908" y="73152"/>
            <a:ext cx="11430000" cy="369332"/>
          </a:xfrm>
          <a:prstGeom prst="rect">
            <a:avLst/>
          </a:prstGeom>
          <a:noFill/>
        </p:spPr>
        <p:txBody>
          <a:bodyPr wrap="square">
            <a:spAutoFit/>
          </a:bodyPr>
          <a:lstStyle/>
          <a:p>
            <a:pPr algn="l"/>
            <a:r>
              <a:rPr b="1">
                <a:solidFill>
                  <a:srgbClr val="FFFFFF"/>
                </a:solidFill>
              </a:rPr>
              <a:t>MATLAB Code - Part 2: Wiener Filter Implementation</a:t>
            </a:r>
          </a:p>
        </p:txBody>
      </p:sp>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8</a:t>
            </a:r>
          </a:p>
        </p:txBody>
      </p:sp>
      <p:sp>
        <p:nvSpPr>
          <p:cNvPr id="7" name="TextBox 6"/>
          <p:cNvSpPr txBox="1"/>
          <p:nvPr/>
        </p:nvSpPr>
        <p:spPr>
          <a:xfrm>
            <a:off x="458789" y="804673"/>
            <a:ext cx="4677947" cy="323165"/>
          </a:xfrm>
          <a:prstGeom prst="rect">
            <a:avLst/>
          </a:prstGeom>
          <a:noFill/>
        </p:spPr>
        <p:txBody>
          <a:bodyPr wrap="none">
            <a:spAutoFit/>
          </a:bodyPr>
          <a:lstStyle/>
          <a:p>
            <a:pPr algn="l"/>
            <a:r>
              <a:rPr sz="1500" b="1" u="sng" dirty="0"/>
              <a:t>Step 3: Estimate PSDs using Welch Method</a:t>
            </a:r>
          </a:p>
        </p:txBody>
      </p:sp>
      <p:sp>
        <p:nvSpPr>
          <p:cNvPr id="10" name="TextBox 9"/>
          <p:cNvSpPr txBox="1"/>
          <p:nvPr/>
        </p:nvSpPr>
        <p:spPr>
          <a:xfrm>
            <a:off x="458788" y="3657601"/>
            <a:ext cx="5143524" cy="323165"/>
          </a:xfrm>
          <a:prstGeom prst="rect">
            <a:avLst/>
          </a:prstGeom>
          <a:noFill/>
        </p:spPr>
        <p:txBody>
          <a:bodyPr wrap="none">
            <a:spAutoFit/>
          </a:bodyPr>
          <a:lstStyle/>
          <a:p>
            <a:pPr algn="l"/>
            <a:r>
              <a:rPr sz="1500" b="1" u="sng" dirty="0"/>
              <a:t>Step 4: Compute Wiener Gain and Filter Signal</a:t>
            </a:r>
          </a:p>
        </p:txBody>
      </p:sp>
      <p:pic>
        <p:nvPicPr>
          <p:cNvPr id="14" name="Picture 13">
            <a:extLst>
              <a:ext uri="{FF2B5EF4-FFF2-40B4-BE49-F238E27FC236}">
                <a16:creationId xmlns:a16="http://schemas.microsoft.com/office/drawing/2014/main" id="{95CF8F0D-EDE1-C723-F71D-8EABC7DE404C}"/>
              </a:ext>
            </a:extLst>
          </p:cNvPr>
          <p:cNvPicPr>
            <a:picLocks noChangeAspect="1"/>
          </p:cNvPicPr>
          <p:nvPr/>
        </p:nvPicPr>
        <p:blipFill>
          <a:blip r:embed="rId2"/>
          <a:stretch>
            <a:fillRect/>
          </a:stretch>
        </p:blipFill>
        <p:spPr>
          <a:xfrm>
            <a:off x="458788" y="1406014"/>
            <a:ext cx="11247120" cy="1794386"/>
          </a:xfrm>
          <a:prstGeom prst="rect">
            <a:avLst/>
          </a:prstGeom>
        </p:spPr>
      </p:pic>
      <p:pic>
        <p:nvPicPr>
          <p:cNvPr id="16" name="Picture 15">
            <a:extLst>
              <a:ext uri="{FF2B5EF4-FFF2-40B4-BE49-F238E27FC236}">
                <a16:creationId xmlns:a16="http://schemas.microsoft.com/office/drawing/2014/main" id="{7C9BE085-4497-92DF-B76F-C6CD4D28999A}"/>
              </a:ext>
            </a:extLst>
          </p:cNvPr>
          <p:cNvPicPr>
            <a:picLocks noChangeAspect="1"/>
          </p:cNvPicPr>
          <p:nvPr/>
        </p:nvPicPr>
        <p:blipFill>
          <a:blip r:embed="rId3"/>
          <a:stretch>
            <a:fillRect/>
          </a:stretch>
        </p:blipFill>
        <p:spPr>
          <a:xfrm>
            <a:off x="678426" y="4184294"/>
            <a:ext cx="10255045" cy="20880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5908" y="73152"/>
            <a:ext cx="11430000" cy="369332"/>
          </a:xfrm>
          <a:prstGeom prst="rect">
            <a:avLst/>
          </a:prstGeom>
          <a:noFill/>
        </p:spPr>
        <p:txBody>
          <a:bodyPr wrap="square">
            <a:spAutoFit/>
          </a:bodyPr>
          <a:lstStyle/>
          <a:p>
            <a:pPr algn="l"/>
            <a:r>
              <a:rPr b="1">
                <a:solidFill>
                  <a:srgbClr val="FFFFFF"/>
                </a:solidFill>
              </a:rPr>
              <a:t>MATLAB Code - Part 3: Evaluation and Plotting</a:t>
            </a:r>
          </a:p>
        </p:txBody>
      </p:sp>
      <p:sp>
        <p:nvSpPr>
          <p:cNvPr id="4" name="Rectangle 3"/>
          <p:cNvSpPr/>
          <p:nvPr/>
        </p:nvSpPr>
        <p:spPr>
          <a:xfrm>
            <a:off x="1588" y="6629400"/>
            <a:ext cx="12188952"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5908" y="6675120"/>
            <a:ext cx="10972800" cy="215444"/>
          </a:xfrm>
          <a:prstGeom prst="rect">
            <a:avLst/>
          </a:prstGeom>
          <a:noFill/>
        </p:spPr>
        <p:txBody>
          <a:bodyPr wrap="square">
            <a:spAutoFit/>
          </a:bodyPr>
          <a:lstStyle/>
          <a:p>
            <a:pPr algn="l"/>
            <a:r>
              <a:rPr sz="800">
                <a:solidFill>
                  <a:srgbClr val="666666"/>
                </a:solidFill>
              </a:rPr>
              <a:t>Audio Noise Cancellation using Wiener Filter  |  Surya Singh  |  VIT Vellore</a:t>
            </a:r>
          </a:p>
        </p:txBody>
      </p:sp>
      <p:sp>
        <p:nvSpPr>
          <p:cNvPr id="6" name="TextBox 5"/>
          <p:cNvSpPr txBox="1"/>
          <p:nvPr/>
        </p:nvSpPr>
        <p:spPr>
          <a:xfrm>
            <a:off x="11797348" y="6492240"/>
            <a:ext cx="365760" cy="230832"/>
          </a:xfrm>
          <a:prstGeom prst="rect">
            <a:avLst/>
          </a:prstGeom>
          <a:noFill/>
        </p:spPr>
        <p:txBody>
          <a:bodyPr wrap="square">
            <a:spAutoFit/>
          </a:bodyPr>
          <a:lstStyle/>
          <a:p>
            <a:pPr algn="r"/>
            <a:r>
              <a:rPr sz="900">
                <a:solidFill>
                  <a:srgbClr val="666666"/>
                </a:solidFill>
              </a:rPr>
              <a:t>9</a:t>
            </a:r>
          </a:p>
        </p:txBody>
      </p:sp>
      <p:sp>
        <p:nvSpPr>
          <p:cNvPr id="7" name="TextBox 6"/>
          <p:cNvSpPr txBox="1"/>
          <p:nvPr/>
        </p:nvSpPr>
        <p:spPr>
          <a:xfrm>
            <a:off x="458788" y="804673"/>
            <a:ext cx="4097404" cy="323165"/>
          </a:xfrm>
          <a:prstGeom prst="rect">
            <a:avLst/>
          </a:prstGeom>
          <a:noFill/>
        </p:spPr>
        <p:txBody>
          <a:bodyPr wrap="none">
            <a:spAutoFit/>
          </a:bodyPr>
          <a:lstStyle/>
          <a:p>
            <a:pPr algn="l"/>
            <a:r>
              <a:rPr sz="1500" b="1" u="sng" dirty="0"/>
              <a:t>Step 5: Evaluate SNR and Plot Results</a:t>
            </a:r>
          </a:p>
        </p:txBody>
      </p:sp>
      <p:pic>
        <p:nvPicPr>
          <p:cNvPr id="11" name="Picture 10">
            <a:extLst>
              <a:ext uri="{FF2B5EF4-FFF2-40B4-BE49-F238E27FC236}">
                <a16:creationId xmlns:a16="http://schemas.microsoft.com/office/drawing/2014/main" id="{C52A705E-32A0-CD69-C3C4-6D23CDE739EA}"/>
              </a:ext>
            </a:extLst>
          </p:cNvPr>
          <p:cNvPicPr>
            <a:picLocks noChangeAspect="1"/>
          </p:cNvPicPr>
          <p:nvPr/>
        </p:nvPicPr>
        <p:blipFill>
          <a:blip r:embed="rId2"/>
          <a:stretch>
            <a:fillRect/>
          </a:stretch>
        </p:blipFill>
        <p:spPr>
          <a:xfrm>
            <a:off x="698090" y="1490027"/>
            <a:ext cx="10726994" cy="44540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FFD85F-4F85-71D7-3BAF-4F94A0A23444}"/>
              </a:ext>
            </a:extLst>
          </p:cNvPr>
          <p:cNvPicPr>
            <a:picLocks noChangeAspect="1"/>
          </p:cNvPicPr>
          <p:nvPr/>
        </p:nvPicPr>
        <p:blipFill>
          <a:blip r:embed="rId2"/>
          <a:stretch>
            <a:fillRect/>
          </a:stretch>
        </p:blipFill>
        <p:spPr>
          <a:xfrm>
            <a:off x="612949" y="1104698"/>
            <a:ext cx="10701495" cy="4648603"/>
          </a:xfrm>
          <a:prstGeom prst="rect">
            <a:avLst/>
          </a:prstGeom>
        </p:spPr>
      </p:pic>
    </p:spTree>
    <p:extLst>
      <p:ext uri="{BB962C8B-B14F-4D97-AF65-F5344CB8AC3E}">
        <p14:creationId xmlns:p14="http://schemas.microsoft.com/office/powerpoint/2010/main" val="1192487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4C9C-9F22-E804-4CB5-9DCEBA010771}"/>
              </a:ext>
            </a:extLst>
          </p:cNvPr>
          <p:cNvSpPr>
            <a:spLocks noGrp="1"/>
          </p:cNvSpPr>
          <p:nvPr>
            <p:ph type="title"/>
          </p:nvPr>
        </p:nvSpPr>
        <p:spPr>
          <a:xfrm>
            <a:off x="228600" y="268034"/>
            <a:ext cx="9905999" cy="846307"/>
          </a:xfrm>
        </p:spPr>
        <p:txBody>
          <a:bodyPr/>
          <a:lstStyle/>
          <a:p>
            <a:r>
              <a:rPr lang="en-IN" dirty="0"/>
              <a:t>MATLAB OUTPUT AND GRAPHS</a:t>
            </a:r>
          </a:p>
        </p:txBody>
      </p:sp>
      <p:pic>
        <p:nvPicPr>
          <p:cNvPr id="9" name="Content Placeholder 8">
            <a:extLst>
              <a:ext uri="{FF2B5EF4-FFF2-40B4-BE49-F238E27FC236}">
                <a16:creationId xmlns:a16="http://schemas.microsoft.com/office/drawing/2014/main" id="{69BE9EF8-C6EC-5211-E798-240DC2356B9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760406" y="1205802"/>
            <a:ext cx="6704763" cy="4762920"/>
          </a:xfrm>
          <a:prstGeom prst="rect">
            <a:avLst/>
          </a:prstGeom>
        </p:spPr>
      </p:pic>
      <p:pic>
        <p:nvPicPr>
          <p:cNvPr id="6" name="Picture 5">
            <a:extLst>
              <a:ext uri="{FF2B5EF4-FFF2-40B4-BE49-F238E27FC236}">
                <a16:creationId xmlns:a16="http://schemas.microsoft.com/office/drawing/2014/main" id="{3F1D20F4-5040-4E71-FD9D-790B8CA07911}"/>
              </a:ext>
            </a:extLst>
          </p:cNvPr>
          <p:cNvPicPr>
            <a:picLocks noChangeAspect="1"/>
          </p:cNvPicPr>
          <p:nvPr/>
        </p:nvPicPr>
        <p:blipFill>
          <a:blip r:embed="rId3"/>
          <a:stretch>
            <a:fillRect/>
          </a:stretch>
        </p:blipFill>
        <p:spPr>
          <a:xfrm>
            <a:off x="654260" y="1482793"/>
            <a:ext cx="2888230" cy="3129399"/>
          </a:xfrm>
          <a:prstGeom prst="rect">
            <a:avLst/>
          </a:prstGeom>
        </p:spPr>
      </p:pic>
    </p:spTree>
    <p:extLst>
      <p:ext uri="{BB962C8B-B14F-4D97-AF65-F5344CB8AC3E}">
        <p14:creationId xmlns:p14="http://schemas.microsoft.com/office/powerpoint/2010/main" val="972816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A46E1C3-C800-0721-7DA1-BB6C00FDBBC4}"/>
              </a:ext>
            </a:extLst>
          </p:cNvPr>
          <p:cNvPicPr>
            <a:picLocks noChangeAspect="1"/>
          </p:cNvPicPr>
          <p:nvPr/>
        </p:nvPicPr>
        <p:blipFill>
          <a:blip r:embed="rId2"/>
          <a:stretch>
            <a:fillRect/>
          </a:stretch>
        </p:blipFill>
        <p:spPr>
          <a:xfrm>
            <a:off x="693336" y="240923"/>
            <a:ext cx="10932607" cy="5727798"/>
          </a:xfrm>
          <a:prstGeom prst="rect">
            <a:avLst/>
          </a:prstGeom>
        </p:spPr>
      </p:pic>
    </p:spTree>
    <p:extLst>
      <p:ext uri="{BB962C8B-B14F-4D97-AF65-F5344CB8AC3E}">
        <p14:creationId xmlns:p14="http://schemas.microsoft.com/office/powerpoint/2010/main" val="216265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F95C99D-D020-FCB4-4C47-720809621BF4}"/>
              </a:ext>
            </a:extLst>
          </p:cNvPr>
          <p:cNvPicPr>
            <a:picLocks noChangeAspect="1"/>
          </p:cNvPicPr>
          <p:nvPr/>
        </p:nvPicPr>
        <p:blipFill>
          <a:blip r:embed="rId2"/>
          <a:stretch>
            <a:fillRect/>
          </a:stretch>
        </p:blipFill>
        <p:spPr>
          <a:xfrm>
            <a:off x="371788" y="568232"/>
            <a:ext cx="11364687" cy="5721536"/>
          </a:xfrm>
          <a:prstGeom prst="rect">
            <a:avLst/>
          </a:prstGeom>
        </p:spPr>
      </p:pic>
    </p:spTree>
    <p:extLst>
      <p:ext uri="{BB962C8B-B14F-4D97-AF65-F5344CB8AC3E}">
        <p14:creationId xmlns:p14="http://schemas.microsoft.com/office/powerpoint/2010/main" val="4086816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71611-8679-098C-EA93-1CDF74234C3F}"/>
              </a:ext>
            </a:extLst>
          </p:cNvPr>
          <p:cNvSpPr>
            <a:spLocks noGrp="1"/>
          </p:cNvSpPr>
          <p:nvPr>
            <p:ph type="title"/>
          </p:nvPr>
        </p:nvSpPr>
        <p:spPr>
          <a:xfrm>
            <a:off x="326922" y="366356"/>
            <a:ext cx="9905999" cy="846307"/>
          </a:xfrm>
        </p:spPr>
        <p:txBody>
          <a:bodyPr/>
          <a:lstStyle/>
          <a:p>
            <a:r>
              <a:rPr lang="en-IN" dirty="0"/>
              <a:t>CONCLUSION</a:t>
            </a:r>
          </a:p>
        </p:txBody>
      </p:sp>
      <p:sp>
        <p:nvSpPr>
          <p:cNvPr id="4" name="Content Placeholder 3">
            <a:extLst>
              <a:ext uri="{FF2B5EF4-FFF2-40B4-BE49-F238E27FC236}">
                <a16:creationId xmlns:a16="http://schemas.microsoft.com/office/drawing/2014/main" id="{09E42365-CBCC-16E9-61F1-A14FBD422EC7}"/>
              </a:ext>
            </a:extLst>
          </p:cNvPr>
          <p:cNvSpPr>
            <a:spLocks noGrp="1"/>
          </p:cNvSpPr>
          <p:nvPr>
            <p:ph sz="half" idx="2"/>
          </p:nvPr>
        </p:nvSpPr>
        <p:spPr>
          <a:xfrm>
            <a:off x="491613" y="2192594"/>
            <a:ext cx="10068232" cy="3697505"/>
          </a:xfrm>
        </p:spPr>
        <p:txBody>
          <a:bodyPr>
            <a:normAutofit fontScale="92500" lnSpcReduction="10000"/>
          </a:bodyPr>
          <a:lstStyle/>
          <a:p>
            <a:pPr marL="0" indent="0">
              <a:buNone/>
            </a:pPr>
            <a:r>
              <a:rPr lang="en-US" dirty="0"/>
              <a:t>In this project, an audio noise cancellation system using the Wiener filter was successfully designed and implemented in MATLAB. The noisy speech signal was processed in the frequency domain using power spectral density estimation, and the Wiener filter was applied to effectively suppress noise while preserving important speech components. The performance was evaluated using Signal-to-Noise Ratio (SNR) and spectrogram analysis, which showed a significant improvement in signal quality after filtering. The results demonstrated that the Wiener filter is an efficient and optimal method for noise reduction, achieving clear and intelligible audio output. However, the method assumes stationary signal and noise conditions, which may limit its performance in real-world dynamic environments. </a:t>
            </a:r>
            <a:r>
              <a:rPr lang="en-US"/>
              <a:t>Overall, the project highlights the effectiveness of classical signal processing techniques and provides a strong foundation for further advancements such as adaptive filtering and real-time implementation.</a:t>
            </a:r>
            <a:endParaRPr lang="en-IN" dirty="0"/>
          </a:p>
        </p:txBody>
      </p:sp>
    </p:spTree>
    <p:extLst>
      <p:ext uri="{BB962C8B-B14F-4D97-AF65-F5344CB8AC3E}">
        <p14:creationId xmlns:p14="http://schemas.microsoft.com/office/powerpoint/2010/main" val="2649482203"/>
      </p:ext>
    </p:extLst>
  </p:cSld>
  <p:clrMapOvr>
    <a:masterClrMapping/>
  </p:clrMapOvr>
</p:sld>
</file>

<file path=ppt/theme/theme1.xml><?xml version="1.0" encoding="utf-8"?>
<a:theme xmlns:a="http://schemas.openxmlformats.org/drawingml/2006/main" name="RegattaVTI">
  <a:themeElements>
    <a:clrScheme name="Regatta Yellow">
      <a:dk1>
        <a:sysClr val="windowText" lastClr="000000"/>
      </a:dk1>
      <a:lt1>
        <a:sysClr val="window" lastClr="FFFFFF"/>
      </a:lt1>
      <a:dk2>
        <a:srgbClr val="181C30"/>
      </a:dk2>
      <a:lt2>
        <a:srgbClr val="C8E1F4"/>
      </a:lt2>
      <a:accent1>
        <a:srgbClr val="217ED3"/>
      </a:accent1>
      <a:accent2>
        <a:srgbClr val="B92525"/>
      </a:accent2>
      <a:accent3>
        <a:srgbClr val="18558C"/>
      </a:accent3>
      <a:accent4>
        <a:srgbClr val="1D8B35"/>
      </a:accent4>
      <a:accent5>
        <a:srgbClr val="EA75AA"/>
      </a:accent5>
      <a:accent6>
        <a:srgbClr val="F5A700"/>
      </a:accent6>
      <a:hlink>
        <a:srgbClr val="DB0000"/>
      </a:hlink>
      <a:folHlink>
        <a:srgbClr val="066BB6"/>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otalTime>546</TotalTime>
  <Words>959</Words>
  <Application>Microsoft Office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 Black</vt:lpstr>
      <vt:lpstr>Aptos ExtraBold</vt:lpstr>
      <vt:lpstr>Arial</vt:lpstr>
      <vt:lpstr>Walbaum Display</vt:lpstr>
      <vt:lpstr>RegattaVTI</vt:lpstr>
      <vt:lpstr>Audio Noise Cancellation using Wiener Filter.                        ~ dsp seminar</vt:lpstr>
      <vt:lpstr>                         INTRODUCTION</vt:lpstr>
      <vt:lpstr>            PURPOSE</vt:lpstr>
      <vt:lpstr>Where is Audio Noise Cancellation Used?</vt:lpstr>
      <vt:lpstr>WIENER FILTER</vt:lpstr>
      <vt:lpstr>PowerPoint Presentation</vt:lpstr>
      <vt:lpstr>PowerPoint Presentation</vt:lpstr>
      <vt:lpstr>PowerPoint Presentation</vt:lpstr>
      <vt:lpstr>PowerPoint Presentation</vt:lpstr>
      <vt:lpstr>PowerPoint Presentation</vt:lpstr>
      <vt:lpstr>MATLAB OUTPUT AND GRAPHS</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SRAJAN GUPTA</dc:creator>
  <cp:lastModifiedBy>SRAJAN GUPTA</cp:lastModifiedBy>
  <cp:revision>7</cp:revision>
  <dcterms:created xsi:type="dcterms:W3CDTF">2025-08-28T20:48:20Z</dcterms:created>
  <dcterms:modified xsi:type="dcterms:W3CDTF">2026-03-26T18:26:46Z</dcterms:modified>
</cp:coreProperties>
</file>