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1" r:id="rId1"/>
  </p:sldMasterIdLst>
  <p:sldIdLst>
    <p:sldId id="256" r:id="rId2"/>
    <p:sldId id="258" r:id="rId3"/>
    <p:sldId id="257" r:id="rId4"/>
    <p:sldId id="265" r:id="rId5"/>
    <p:sldId id="269" r:id="rId6"/>
    <p:sldId id="261" r:id="rId7"/>
    <p:sldId id="262" r:id="rId8"/>
    <p:sldId id="263" r:id="rId9"/>
    <p:sldId id="276" r:id="rId10"/>
    <p:sldId id="277" r:id="rId11"/>
    <p:sldId id="279" r:id="rId12"/>
    <p:sldId id="27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FCBBA-905A-4FD1-BFBA-F3EE6DA264E0}"/>
              </a:ext>
            </a:extLst>
          </p:cNvPr>
          <p:cNvSpPr>
            <a:spLocks noGrp="1"/>
          </p:cNvSpPr>
          <p:nvPr>
            <p:ph type="ctrTitle"/>
          </p:nvPr>
        </p:nvSpPr>
        <p:spPr>
          <a:xfrm>
            <a:off x="1143000" y="1181098"/>
            <a:ext cx="8986580" cy="2832404"/>
          </a:xfrm>
        </p:spPr>
        <p:txBody>
          <a:bodyPr anchor="t">
            <a:normAutofit/>
          </a:bodyPr>
          <a:lstStyle>
            <a:lvl1pPr algn="l">
              <a:lnSpc>
                <a:spcPct val="100000"/>
              </a:lnSpc>
              <a:defRPr sz="4800" cap="all" spc="300" baseline="0"/>
            </a:lvl1pPr>
          </a:lstStyle>
          <a:p>
            <a:r>
              <a:rPr lang="en-US" dirty="0"/>
              <a:t>Click to edit Master title style</a:t>
            </a:r>
          </a:p>
        </p:txBody>
      </p:sp>
      <p:sp>
        <p:nvSpPr>
          <p:cNvPr id="3" name="Subtitle 2">
            <a:extLst>
              <a:ext uri="{FF2B5EF4-FFF2-40B4-BE49-F238E27FC236}">
                <a16:creationId xmlns:a16="http://schemas.microsoft.com/office/drawing/2014/main" id="{13DD287E-F1C8-463F-8429-D1B5B1582520}"/>
              </a:ext>
            </a:extLst>
          </p:cNvPr>
          <p:cNvSpPr>
            <a:spLocks noGrp="1"/>
          </p:cNvSpPr>
          <p:nvPr>
            <p:ph type="subTitle" idx="1"/>
          </p:nvPr>
        </p:nvSpPr>
        <p:spPr>
          <a:xfrm>
            <a:off x="1143000" y="5463522"/>
            <a:ext cx="8986580" cy="650311"/>
          </a:xfrm>
        </p:spPr>
        <p:txBody>
          <a:bodyPr>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81F44ED-7973-4A99-B2CA-A8962BCE0D5D}"/>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5" name="Footer Placeholder 4">
            <a:extLst>
              <a:ext uri="{FF2B5EF4-FFF2-40B4-BE49-F238E27FC236}">
                <a16:creationId xmlns:a16="http://schemas.microsoft.com/office/drawing/2014/main" id="{08DF96F2-D6BE-49AC-A605-5AE87C3F2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7FC50-B13C-4B63-AE64-F71A6EDE63B6}"/>
              </a:ext>
            </a:extLst>
          </p:cNvPr>
          <p:cNvSpPr>
            <a:spLocks noGrp="1"/>
          </p:cNvSpPr>
          <p:nvPr>
            <p:ph type="sldNum" sz="quarter" idx="12"/>
          </p:nvPr>
        </p:nvSpPr>
        <p:spPr/>
        <p:txBody>
          <a:bodyPr/>
          <a:lstStyle/>
          <a:p>
            <a:fld id="{C0722274-0FAA-4649-AA4E-4210F4F32167}" type="slidenum">
              <a:rPr lang="en-US" smtClean="0"/>
              <a:t>‹#›</a:t>
            </a:fld>
            <a:endParaRPr lang="en-US"/>
          </a:p>
        </p:txBody>
      </p:sp>
      <p:cxnSp>
        <p:nvCxnSpPr>
          <p:cNvPr id="12" name="Straight Connector 11">
            <a:extLst>
              <a:ext uri="{FF2B5EF4-FFF2-40B4-BE49-F238E27FC236}">
                <a16:creationId xmlns:a16="http://schemas.microsoft.com/office/drawing/2014/main" id="{4C75A547-BCD1-42BE-966E-53CA0AB93165}"/>
              </a:ext>
            </a:extLst>
          </p:cNvPr>
          <p:cNvCxnSpPr>
            <a:cxnSpLocks/>
          </p:cNvCxnSpPr>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777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D6F3-88F1-4195-8395-57AA096BB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8D06C-EB08-40B3-AFB3-A62F44112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3962F-B413-4C4C-A490-724DDB9E7DB9}"/>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5" name="Footer Placeholder 4">
            <a:extLst>
              <a:ext uri="{FF2B5EF4-FFF2-40B4-BE49-F238E27FC236}">
                <a16:creationId xmlns:a16="http://schemas.microsoft.com/office/drawing/2014/main" id="{02871813-4E87-4C04-835D-76246010B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22BA3-033C-491E-A045-F0052AC19A8C}"/>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33961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19AD-2EDD-4B4F-9F9E-46A4441847A6}"/>
              </a:ext>
            </a:extLst>
          </p:cNvPr>
          <p:cNvSpPr>
            <a:spLocks noGrp="1"/>
          </p:cNvSpPr>
          <p:nvPr>
            <p:ph type="title"/>
          </p:nvPr>
        </p:nvSpPr>
        <p:spPr>
          <a:xfrm>
            <a:off x="1143000" y="1709738"/>
            <a:ext cx="8520952" cy="2852737"/>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00EE5927-21D5-4EBA-A112-CAD1BD38BCB1}"/>
              </a:ext>
            </a:extLst>
          </p:cNvPr>
          <p:cNvSpPr>
            <a:spLocks noGrp="1"/>
          </p:cNvSpPr>
          <p:nvPr>
            <p:ph type="body" idx="1"/>
          </p:nvPr>
        </p:nvSpPr>
        <p:spPr>
          <a:xfrm>
            <a:off x="1143000" y="4589466"/>
            <a:ext cx="8520952" cy="813266"/>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EF0D16-9D87-4D76-A5A5-534E24B7DD25}"/>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5" name="Footer Placeholder 4">
            <a:extLst>
              <a:ext uri="{FF2B5EF4-FFF2-40B4-BE49-F238E27FC236}">
                <a16:creationId xmlns:a16="http://schemas.microsoft.com/office/drawing/2014/main" id="{5965F387-5AAC-45D0-ABCE-B1CF4BC7E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F6FE-0006-4F40-A7FB-E0FDBADF7548}"/>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950238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AADE-587E-4574-B21B-7ABDE5A23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F9DA5-4DFB-4211-A58A-FFD842C27A65}"/>
              </a:ext>
            </a:extLst>
          </p:cNvPr>
          <p:cNvSpPr>
            <a:spLocks noGrp="1"/>
          </p:cNvSpPr>
          <p:nvPr>
            <p:ph sz="half" idx="1"/>
          </p:nvPr>
        </p:nvSpPr>
        <p:spPr>
          <a:xfrm>
            <a:off x="1143000" y="2339501"/>
            <a:ext cx="4798979" cy="35505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99F26-66AF-4614-91CE-C93A24BAC23A}"/>
              </a:ext>
            </a:extLst>
          </p:cNvPr>
          <p:cNvSpPr>
            <a:spLocks noGrp="1"/>
          </p:cNvSpPr>
          <p:nvPr>
            <p:ph sz="half" idx="2"/>
          </p:nvPr>
        </p:nvSpPr>
        <p:spPr>
          <a:xfrm>
            <a:off x="6250020" y="2339501"/>
            <a:ext cx="4798980" cy="355059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F8F678E-59B5-4DF9-ABCB-506B9CB701CC}"/>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6" name="Footer Placeholder 5">
            <a:extLst>
              <a:ext uri="{FF2B5EF4-FFF2-40B4-BE49-F238E27FC236}">
                <a16:creationId xmlns:a16="http://schemas.microsoft.com/office/drawing/2014/main" id="{18B50A53-317B-444A-9BA2-F69CDBF5D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B269A1-B0FB-4C8F-B6AA-0718C92D3D2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373095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BBBF-42B2-4A5D-B145-46983A530170}"/>
              </a:ext>
            </a:extLst>
          </p:cNvPr>
          <p:cNvSpPr>
            <a:spLocks noGrp="1"/>
          </p:cNvSpPr>
          <p:nvPr>
            <p:ph type="title"/>
          </p:nvPr>
        </p:nvSpPr>
        <p:spPr>
          <a:xfrm>
            <a:off x="1143000" y="1133272"/>
            <a:ext cx="9905999" cy="84630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804BE44-5271-4B5D-B649-35E3AF20B48F}"/>
              </a:ext>
            </a:extLst>
          </p:cNvPr>
          <p:cNvSpPr>
            <a:spLocks noGrp="1"/>
          </p:cNvSpPr>
          <p:nvPr>
            <p:ph type="body" idx="1"/>
          </p:nvPr>
        </p:nvSpPr>
        <p:spPr>
          <a:xfrm>
            <a:off x="1142999" y="2067127"/>
            <a:ext cx="4798980"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4D7891E-0C0A-4688-97DD-C0715E322194}"/>
              </a:ext>
            </a:extLst>
          </p:cNvPr>
          <p:cNvSpPr>
            <a:spLocks noGrp="1"/>
          </p:cNvSpPr>
          <p:nvPr>
            <p:ph sz="half" idx="2"/>
          </p:nvPr>
        </p:nvSpPr>
        <p:spPr>
          <a:xfrm>
            <a:off x="1143001" y="2864795"/>
            <a:ext cx="4798978"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5EAF30-3412-49B0-93D1-596CC2695B26}"/>
              </a:ext>
            </a:extLst>
          </p:cNvPr>
          <p:cNvSpPr>
            <a:spLocks noGrp="1"/>
          </p:cNvSpPr>
          <p:nvPr>
            <p:ph type="body" sz="quarter" idx="3"/>
          </p:nvPr>
        </p:nvSpPr>
        <p:spPr>
          <a:xfrm>
            <a:off x="6250018" y="2067127"/>
            <a:ext cx="4798981"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07B9B7-F41C-4314-9F0C-BB84547FB8CA}"/>
              </a:ext>
            </a:extLst>
          </p:cNvPr>
          <p:cNvSpPr>
            <a:spLocks noGrp="1"/>
          </p:cNvSpPr>
          <p:nvPr>
            <p:ph sz="quarter" idx="4"/>
          </p:nvPr>
        </p:nvSpPr>
        <p:spPr>
          <a:xfrm>
            <a:off x="6250019" y="2864795"/>
            <a:ext cx="4798982"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421587F-6AFC-4906-86EB-6B0A86EEF300}"/>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8" name="Footer Placeholder 7">
            <a:extLst>
              <a:ext uri="{FF2B5EF4-FFF2-40B4-BE49-F238E27FC236}">
                <a16:creationId xmlns:a16="http://schemas.microsoft.com/office/drawing/2014/main" id="{354BE2C5-583B-49BC-9864-B01EEF798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9B236-45F5-4CC6-8D53-A6903A1CC8B3}"/>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008237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B206-0678-4577-B79F-760526A5FD76}"/>
              </a:ext>
            </a:extLst>
          </p:cNvPr>
          <p:cNvSpPr>
            <a:spLocks noGrp="1"/>
          </p:cNvSpPr>
          <p:nvPr>
            <p:ph type="title"/>
          </p:nvPr>
        </p:nvSpPr>
        <p:spPr>
          <a:xfrm>
            <a:off x="2019300" y="1322615"/>
            <a:ext cx="8175171" cy="4212771"/>
          </a:xfrm>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E6D5FCB8-AFD3-4801-BBD6-9548F4CF7C86}"/>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4" name="Footer Placeholder 3">
            <a:extLst>
              <a:ext uri="{FF2B5EF4-FFF2-40B4-BE49-F238E27FC236}">
                <a16:creationId xmlns:a16="http://schemas.microsoft.com/office/drawing/2014/main" id="{0F6DACF8-CBC0-416B-B28E-EE18C4238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C7421-FF49-4CE9-87D0-2B4FFE0E3DC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639289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9CBFE-15AA-4447-9F9C-D8B0BEB242DA}"/>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3" name="Footer Placeholder 2">
            <a:extLst>
              <a:ext uri="{FF2B5EF4-FFF2-40B4-BE49-F238E27FC236}">
                <a16:creationId xmlns:a16="http://schemas.microsoft.com/office/drawing/2014/main" id="{C6B48227-EC1E-4063-9682-891A2DB1A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2C6A63-C3F4-4563-A542-9A41AC946C3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423090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0C1-FE18-461C-801C-8626C7759861}"/>
              </a:ext>
            </a:extLst>
          </p:cNvPr>
          <p:cNvSpPr>
            <a:spLocks noGrp="1"/>
          </p:cNvSpPr>
          <p:nvPr>
            <p:ph type="title"/>
          </p:nvPr>
        </p:nvSpPr>
        <p:spPr>
          <a:xfrm>
            <a:off x="1143000" y="1600200"/>
            <a:ext cx="3932237" cy="1964986"/>
          </a:xfrm>
        </p:spPr>
        <p:txBody>
          <a:bodyPr anchor="b">
            <a:normAutofit/>
          </a:bodyPr>
          <a:lstStyle>
            <a:lvl1pPr>
              <a:lnSpc>
                <a:spcPct val="110000"/>
              </a:lnSpc>
              <a:defRPr sz="2400" cap="all" spc="3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B14CFF3-3406-49E3-9D5A-1BE90FFA508E}"/>
              </a:ext>
            </a:extLst>
          </p:cNvPr>
          <p:cNvSpPr>
            <a:spLocks noGrp="1"/>
          </p:cNvSpPr>
          <p:nvPr>
            <p:ph idx="1"/>
          </p:nvPr>
        </p:nvSpPr>
        <p:spPr>
          <a:xfrm>
            <a:off x="5627451" y="987425"/>
            <a:ext cx="542154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33D14FF-9082-4BBA-BC7A-F4C5B78599C5}"/>
              </a:ext>
            </a:extLst>
          </p:cNvPr>
          <p:cNvSpPr>
            <a:spLocks noGrp="1"/>
          </p:cNvSpPr>
          <p:nvPr>
            <p:ph type="body" sz="half" idx="2"/>
          </p:nvPr>
        </p:nvSpPr>
        <p:spPr>
          <a:xfrm>
            <a:off x="1143000" y="3662464"/>
            <a:ext cx="3932237" cy="2206523"/>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5A2726-EB8E-4DF7-9A1B-F03BD8C7179E}"/>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6" name="Footer Placeholder 5">
            <a:extLst>
              <a:ext uri="{FF2B5EF4-FFF2-40B4-BE49-F238E27FC236}">
                <a16:creationId xmlns:a16="http://schemas.microsoft.com/office/drawing/2014/main" id="{8D9929BE-611C-4FE6-B0A5-E0FF9DF96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90B32-1D0E-4BCD-8850-59EA235F7EB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84279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CA1460E-1069-4FCA-B04E-28F77C861046}"/>
              </a:ext>
            </a:extLst>
          </p:cNvPr>
          <p:cNvSpPr>
            <a:spLocks noGrp="1"/>
          </p:cNvSpPr>
          <p:nvPr>
            <p:ph type="pic" idx="1"/>
          </p:nvPr>
        </p:nvSpPr>
        <p:spPr>
          <a:xfrm>
            <a:off x="5513614" y="987425"/>
            <a:ext cx="55353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6138C1E-867B-4FE9-8783-9B1246AEB797}"/>
              </a:ext>
            </a:extLst>
          </p:cNvPr>
          <p:cNvSpPr>
            <a:spLocks noGrp="1"/>
          </p:cNvSpPr>
          <p:nvPr>
            <p:ph type="body" sz="half" idx="2"/>
          </p:nvPr>
        </p:nvSpPr>
        <p:spPr>
          <a:xfrm>
            <a:off x="1143000" y="3657601"/>
            <a:ext cx="3932236" cy="2211388"/>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0721568-4870-46F2-9F7E-F410702012D9}"/>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6" name="Footer Placeholder 5">
            <a:extLst>
              <a:ext uri="{FF2B5EF4-FFF2-40B4-BE49-F238E27FC236}">
                <a16:creationId xmlns:a16="http://schemas.microsoft.com/office/drawing/2014/main" id="{0BB3CC65-0E73-45A1-9D4F-3F4559B3B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C58CD-9BC3-431E-A7B4-D596A7F06C5E}"/>
              </a:ext>
            </a:extLst>
          </p:cNvPr>
          <p:cNvSpPr>
            <a:spLocks noGrp="1"/>
          </p:cNvSpPr>
          <p:nvPr>
            <p:ph type="sldNum" sz="quarter" idx="12"/>
          </p:nvPr>
        </p:nvSpPr>
        <p:spPr/>
        <p:txBody>
          <a:bodyPr/>
          <a:lstStyle/>
          <a:p>
            <a:fld id="{C0722274-0FAA-4649-AA4E-4210F4F32167}" type="slidenum">
              <a:rPr lang="en-US" smtClean="0"/>
              <a:t>‹#›</a:t>
            </a:fld>
            <a:endParaRPr lang="en-US"/>
          </a:p>
        </p:txBody>
      </p:sp>
      <p:sp>
        <p:nvSpPr>
          <p:cNvPr id="2" name="Title 1">
            <a:extLst>
              <a:ext uri="{FF2B5EF4-FFF2-40B4-BE49-F238E27FC236}">
                <a16:creationId xmlns:a16="http://schemas.microsoft.com/office/drawing/2014/main" id="{2368F756-D171-474C-8B1A-C818032F6F78}"/>
              </a:ext>
            </a:extLst>
          </p:cNvPr>
          <p:cNvSpPr>
            <a:spLocks noGrp="1"/>
          </p:cNvSpPr>
          <p:nvPr>
            <p:ph type="title"/>
          </p:nvPr>
        </p:nvSpPr>
        <p:spPr>
          <a:xfrm>
            <a:off x="1143000" y="1600201"/>
            <a:ext cx="3932236" cy="1959428"/>
          </a:xfrm>
        </p:spPr>
        <p:txBody>
          <a:bodyPr anchor="b">
            <a:normAutofit/>
          </a:bodyPr>
          <a:lstStyle>
            <a:lvl1pPr>
              <a:lnSpc>
                <a:spcPct val="110000"/>
              </a:lnSpc>
              <a:defRPr sz="2400" cap="all" spc="300" baseline="0"/>
            </a:lvl1pPr>
          </a:lstStyle>
          <a:p>
            <a:r>
              <a:rPr lang="en-US" dirty="0"/>
              <a:t>Click to edit Master title style</a:t>
            </a:r>
          </a:p>
        </p:txBody>
      </p:sp>
    </p:spTree>
    <p:extLst>
      <p:ext uri="{BB962C8B-B14F-4D97-AF65-F5344CB8AC3E}">
        <p14:creationId xmlns:p14="http://schemas.microsoft.com/office/powerpoint/2010/main" val="232409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3BF2-BCE9-47D7-B1C0-1F0E4936B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722E9-C3E4-48AF-996A-495AE659F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9E516-382B-4845-93BF-20C16EE0DB05}"/>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5" name="Footer Placeholder 4">
            <a:extLst>
              <a:ext uri="{FF2B5EF4-FFF2-40B4-BE49-F238E27FC236}">
                <a16:creationId xmlns:a16="http://schemas.microsoft.com/office/drawing/2014/main" id="{EAB96E16-F168-442A-843C-5D490D54B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61BEA-A969-437A-BD8B-CB1B709AD43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307516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28449-3E11-45FF-BF3A-651867603E75}"/>
              </a:ext>
            </a:extLst>
          </p:cNvPr>
          <p:cNvSpPr>
            <a:spLocks noGrp="1"/>
          </p:cNvSpPr>
          <p:nvPr>
            <p:ph type="title" orient="vert"/>
          </p:nvPr>
        </p:nvSpPr>
        <p:spPr>
          <a:xfrm>
            <a:off x="8572500" y="870625"/>
            <a:ext cx="2476499" cy="50292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AFC0EAB0-2DFA-4CBA-86B1-1826EF523D4D}"/>
              </a:ext>
            </a:extLst>
          </p:cNvPr>
          <p:cNvSpPr>
            <a:spLocks noGrp="1"/>
          </p:cNvSpPr>
          <p:nvPr>
            <p:ph type="body" orient="vert" idx="1"/>
          </p:nvPr>
        </p:nvSpPr>
        <p:spPr>
          <a:xfrm>
            <a:off x="1143000" y="870625"/>
            <a:ext cx="7324928" cy="5029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A22F89-E1F5-45D7-945A-8A2886C4BA59}"/>
              </a:ext>
            </a:extLst>
          </p:cNvPr>
          <p:cNvSpPr>
            <a:spLocks noGrp="1"/>
          </p:cNvSpPr>
          <p:nvPr>
            <p:ph type="dt" sz="half" idx="10"/>
          </p:nvPr>
        </p:nvSpPr>
        <p:spPr/>
        <p:txBody>
          <a:bodyPr/>
          <a:lstStyle/>
          <a:p>
            <a:fld id="{3CADBD16-5BFB-4D9F-9646-C75D1B53BBB6}" type="datetimeFigureOut">
              <a:rPr lang="en-US" smtClean="0"/>
              <a:t>4/7/2026</a:t>
            </a:fld>
            <a:endParaRPr lang="en-US"/>
          </a:p>
        </p:txBody>
      </p:sp>
      <p:sp>
        <p:nvSpPr>
          <p:cNvPr id="5" name="Footer Placeholder 4">
            <a:extLst>
              <a:ext uri="{FF2B5EF4-FFF2-40B4-BE49-F238E27FC236}">
                <a16:creationId xmlns:a16="http://schemas.microsoft.com/office/drawing/2014/main" id="{637E7E82-5FB8-4289-AD0C-0BA788E1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A4046-1A2C-41F5-A177-1C3919C20569}"/>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682510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Lst>
          </p:cNvPr>
          <p:cNvSpPr/>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Lst>
          </p:cNvPr>
          <p:cNvSpPr/>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Lst>
          </p:cNvPr>
          <p:cNvCxnSpPr>
            <a:cxnSpLocks/>
          </p:cNvCxnSpPr>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0BA018A2-815D-41B0-A189-FDF7A5E88891}"/>
              </a:ext>
            </a:extLst>
          </p:cNvPr>
          <p:cNvSpPr>
            <a:spLocks noGrp="1"/>
          </p:cNvSpPr>
          <p:nvPr>
            <p:ph type="title"/>
          </p:nvPr>
        </p:nvSpPr>
        <p:spPr>
          <a:xfrm>
            <a:off x="1143000" y="872935"/>
            <a:ext cx="9905999" cy="13608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DFAE63-1276-4C7C-BFF5-F5DF1CDB23E5}"/>
              </a:ext>
            </a:extLst>
          </p:cNvPr>
          <p:cNvSpPr>
            <a:spLocks noGrp="1"/>
          </p:cNvSpPr>
          <p:nvPr>
            <p:ph type="body" idx="1"/>
          </p:nvPr>
        </p:nvSpPr>
        <p:spPr>
          <a:xfrm>
            <a:off x="1143000" y="2332026"/>
            <a:ext cx="9905999" cy="356711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380268-2D73-487C-843B-51648AE18194}"/>
              </a:ext>
            </a:extLst>
          </p:cNvPr>
          <p:cNvSpPr>
            <a:spLocks noGrp="1"/>
          </p:cNvSpPr>
          <p:nvPr>
            <p:ph type="dt" sz="half" idx="2"/>
          </p:nvPr>
        </p:nvSpPr>
        <p:spPr>
          <a:xfrm>
            <a:off x="7388157" y="6356350"/>
            <a:ext cx="3093395" cy="365125"/>
          </a:xfrm>
          <a:prstGeom prst="rect">
            <a:avLst/>
          </a:prstGeom>
        </p:spPr>
        <p:txBody>
          <a:bodyPr vert="horz" lIns="91440" tIns="45720" rIns="91440" bIns="45720" rtlCol="0" anchor="ctr"/>
          <a:lstStyle>
            <a:lvl1pPr algn="r">
              <a:defRPr sz="1050">
                <a:solidFill>
                  <a:schemeClr val="tx1"/>
                </a:solidFill>
              </a:defRPr>
            </a:lvl1pPr>
          </a:lstStyle>
          <a:p>
            <a:fld id="{3CADBD16-5BFB-4D9F-9646-C75D1B53BBB6}" type="datetimeFigureOut">
              <a:rPr lang="en-US" smtClean="0"/>
              <a:pPr/>
              <a:t>4/7/2026</a:t>
            </a:fld>
            <a:endParaRPr lang="en-US" dirty="0"/>
          </a:p>
        </p:txBody>
      </p:sp>
      <p:sp>
        <p:nvSpPr>
          <p:cNvPr id="5" name="Footer Placeholder 4">
            <a:extLst>
              <a:ext uri="{FF2B5EF4-FFF2-40B4-BE49-F238E27FC236}">
                <a16:creationId xmlns:a16="http://schemas.microsoft.com/office/drawing/2014/main" id="{99F61E6D-D51F-4BD7-B59D-19AF179177B8}"/>
              </a:ext>
            </a:extLst>
          </p:cNvPr>
          <p:cNvSpPr>
            <a:spLocks noGrp="1"/>
          </p:cNvSpPr>
          <p:nvPr>
            <p:ph type="ftr" sz="quarter" idx="3"/>
          </p:nvPr>
        </p:nvSpPr>
        <p:spPr>
          <a:xfrm>
            <a:off x="1143000" y="6356350"/>
            <a:ext cx="3959157" cy="365125"/>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27701B1-1C93-41C2-AEE1-815DEA51B962}"/>
              </a:ext>
            </a:extLst>
          </p:cNvPr>
          <p:cNvSpPr>
            <a:spLocks noGrp="1"/>
          </p:cNvSpPr>
          <p:nvPr>
            <p:ph type="sldNum" sz="quarter" idx="4"/>
          </p:nvPr>
        </p:nvSpPr>
        <p:spPr>
          <a:xfrm>
            <a:off x="10423186" y="6356350"/>
            <a:ext cx="625813" cy="365125"/>
          </a:xfrm>
          <a:prstGeom prst="rect">
            <a:avLst/>
          </a:prstGeom>
        </p:spPr>
        <p:txBody>
          <a:bodyPr vert="horz" lIns="91440" tIns="45720" rIns="91440" bIns="45720" rtlCol="0" anchor="ctr"/>
          <a:lstStyle>
            <a:lvl1pPr algn="r">
              <a:defRPr sz="1050">
                <a:solidFill>
                  <a:schemeClr val="tx1"/>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1327484809"/>
      </p:ext>
    </p:extLst>
  </p:cSld>
  <p:clrMap bg1="dk1" tx1="lt1" bg2="dk2" tx2="lt2" accent1="accent1" accent2="accent2" accent3="accent3" accent4="accent4" accent5="accent5" accent6="accent6" hlink="hlink" folHlink="folHlink"/>
  <p:sldLayoutIdLst>
    <p:sldLayoutId id="2147484296" r:id="rId1"/>
    <p:sldLayoutId id="2147484297" r:id="rId2"/>
    <p:sldLayoutId id="2147484298" r:id="rId3"/>
    <p:sldLayoutId id="2147484299" r:id="rId4"/>
    <p:sldLayoutId id="2147484300" r:id="rId5"/>
    <p:sldLayoutId id="2147484294" r:id="rId6"/>
    <p:sldLayoutId id="2147484290" r:id="rId7"/>
    <p:sldLayoutId id="2147484291" r:id="rId8"/>
    <p:sldLayoutId id="2147484292" r:id="rId9"/>
    <p:sldLayoutId id="2147484293" r:id="rId10"/>
    <p:sldLayoutId id="2147484295"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Tx/>
        <a:buNone/>
        <a:defRPr sz="1800" i="1" kern="1200">
          <a:solidFill>
            <a:schemeClr val="tx1"/>
          </a:solidFill>
          <a:latin typeface="+mn-lt"/>
          <a:ea typeface="+mn-ea"/>
          <a:cs typeface="+mn-cs"/>
        </a:defRPr>
      </a:lvl2pPr>
      <a:lvl3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502920" indent="0" algn="l" defTabSz="914400" rtl="0" eaLnBrk="1" latinLnBrk="0" hangingPunct="1">
        <a:lnSpc>
          <a:spcPct val="120000"/>
        </a:lnSpc>
        <a:spcBef>
          <a:spcPts val="500"/>
        </a:spcBef>
        <a:buFontTx/>
        <a:buNone/>
        <a:defRPr sz="1400" i="1" kern="1200">
          <a:solidFill>
            <a:schemeClr val="tx1"/>
          </a:solidFill>
          <a:latin typeface="+mn-lt"/>
          <a:ea typeface="+mn-ea"/>
          <a:cs typeface="+mn-cs"/>
        </a:defRPr>
      </a:lvl4pPr>
      <a:lvl5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C3B0A228-9EA3-4009-A82E-9402BBC72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8436CF-B3D1-D090-54AC-D1575E4BDB38}"/>
              </a:ext>
            </a:extLst>
          </p:cNvPr>
          <p:cNvSpPr>
            <a:spLocks noGrp="1"/>
          </p:cNvSpPr>
          <p:nvPr>
            <p:ph type="ctrTitle"/>
          </p:nvPr>
        </p:nvSpPr>
        <p:spPr>
          <a:xfrm>
            <a:off x="723481" y="987289"/>
            <a:ext cx="5462955" cy="2847292"/>
          </a:xfrm>
        </p:spPr>
        <p:txBody>
          <a:bodyPr>
            <a:noAutofit/>
          </a:bodyPr>
          <a:lstStyle/>
          <a:p>
            <a:pPr>
              <a:lnSpc>
                <a:spcPct val="90000"/>
              </a:lnSpc>
            </a:pPr>
            <a:r>
              <a:rPr lang="en-US" sz="1800" b="1" dirty="0"/>
              <a:t>Verification of the Non-Negativity and Even Symmetry Properties of the Power Spectral Density.</a:t>
            </a:r>
            <a:br>
              <a:rPr lang="en-US" sz="3200" b="1" dirty="0">
                <a:latin typeface="Aptos Black" panose="020B0004020202020204" pitchFamily="34" charset="0"/>
              </a:rPr>
            </a:br>
            <a:br>
              <a:rPr lang="en-US" sz="3200" b="1" dirty="0">
                <a:latin typeface="Aptos Black" panose="020B0004020202020204" pitchFamily="34" charset="0"/>
              </a:rPr>
            </a:br>
            <a:r>
              <a:rPr lang="en-US" sz="3200" b="1" dirty="0">
                <a:latin typeface="Aptos Black" panose="020B0004020202020204" pitchFamily="34" charset="0"/>
              </a:rPr>
              <a:t>                     </a:t>
            </a:r>
            <a:r>
              <a:rPr lang="en-US" sz="2000" b="1" dirty="0">
                <a:latin typeface="+mn-lt"/>
              </a:rPr>
              <a:t>~</a:t>
            </a:r>
            <a:r>
              <a:rPr lang="en-US" sz="1400" b="1" dirty="0">
                <a:latin typeface="+mn-lt"/>
              </a:rPr>
              <a:t> RANDOM PROCESS</a:t>
            </a:r>
            <a:endParaRPr lang="en-IN" sz="3200" b="1" dirty="0">
              <a:latin typeface="+mn-lt"/>
            </a:endParaRPr>
          </a:p>
        </p:txBody>
      </p:sp>
      <p:sp>
        <p:nvSpPr>
          <p:cNvPr id="3" name="Subtitle 2">
            <a:extLst>
              <a:ext uri="{FF2B5EF4-FFF2-40B4-BE49-F238E27FC236}">
                <a16:creationId xmlns:a16="http://schemas.microsoft.com/office/drawing/2014/main" id="{248E038F-A79E-96B7-CCB3-37736215E3FB}"/>
              </a:ext>
            </a:extLst>
          </p:cNvPr>
          <p:cNvSpPr>
            <a:spLocks noGrp="1"/>
          </p:cNvSpPr>
          <p:nvPr>
            <p:ph type="subTitle" idx="1"/>
          </p:nvPr>
        </p:nvSpPr>
        <p:spPr>
          <a:xfrm>
            <a:off x="723481" y="3428999"/>
            <a:ext cx="4622242" cy="2396837"/>
          </a:xfrm>
        </p:spPr>
        <p:txBody>
          <a:bodyPr anchor="b">
            <a:normAutofit/>
          </a:bodyPr>
          <a:lstStyle/>
          <a:p>
            <a:endParaRPr lang="en-IN" dirty="0">
              <a:latin typeface="Aptos ExtraBold" panose="020F0502020204030204" pitchFamily="34" charset="0"/>
            </a:endParaRPr>
          </a:p>
          <a:p>
            <a:r>
              <a:rPr lang="en-IN" dirty="0">
                <a:latin typeface="Aptos ExtraBold" panose="020F0502020204030204" pitchFamily="34" charset="0"/>
              </a:rPr>
              <a:t>24BML0069 – Surya Pratap Singh</a:t>
            </a:r>
          </a:p>
          <a:p>
            <a:r>
              <a:rPr lang="en-IN" dirty="0">
                <a:solidFill>
                  <a:srgbClr val="FFFF00"/>
                </a:solidFill>
                <a:latin typeface="Aptos ExtraBold" panose="020F0502020204030204" pitchFamily="34" charset="0"/>
              </a:rPr>
              <a:t>24BEC0066 – </a:t>
            </a:r>
            <a:r>
              <a:rPr lang="en-IN" dirty="0" err="1">
                <a:solidFill>
                  <a:srgbClr val="FFFF00"/>
                </a:solidFill>
                <a:latin typeface="Aptos ExtraBold" panose="020F0502020204030204" pitchFamily="34" charset="0"/>
              </a:rPr>
              <a:t>Srajan</a:t>
            </a:r>
            <a:r>
              <a:rPr lang="en-IN" dirty="0">
                <a:solidFill>
                  <a:srgbClr val="FFFF00"/>
                </a:solidFill>
                <a:latin typeface="Aptos ExtraBold" panose="020F0502020204030204" pitchFamily="34" charset="0"/>
              </a:rPr>
              <a:t> Gupta</a:t>
            </a:r>
          </a:p>
          <a:p>
            <a:endParaRPr lang="en-IN" dirty="0">
              <a:latin typeface="Aptos ExtraBold" panose="020F0502020204030204" pitchFamily="34" charset="0"/>
            </a:endParaRPr>
          </a:p>
        </p:txBody>
      </p:sp>
      <p:pic>
        <p:nvPicPr>
          <p:cNvPr id="4" name="Picture 3" descr="A colorful light bulb with business icons">
            <a:extLst>
              <a:ext uri="{FF2B5EF4-FFF2-40B4-BE49-F238E27FC236}">
                <a16:creationId xmlns:a16="http://schemas.microsoft.com/office/drawing/2014/main" id="{2B5FC052-6991-A557-1A47-9E483AF12A74}"/>
              </a:ext>
            </a:extLst>
          </p:cNvPr>
          <p:cNvPicPr>
            <a:picLocks noChangeAspect="1"/>
          </p:cNvPicPr>
          <p:nvPr/>
        </p:nvPicPr>
        <p:blipFill>
          <a:blip r:embed="rId2"/>
          <a:srcRect l="2085" r="5044" b="1"/>
          <a:stretch>
            <a:fillRect/>
          </a:stretch>
        </p:blipFill>
        <p:spPr>
          <a:xfrm>
            <a:off x="3093268" y="10"/>
            <a:ext cx="9098732" cy="6857990"/>
          </a:xfrm>
          <a:custGeom>
            <a:avLst/>
            <a:gdLst/>
            <a:ahLst/>
            <a:cxnLst/>
            <a:rect l="l" t="t" r="r" b="b"/>
            <a:pathLst>
              <a:path w="9098732" h="6858000">
                <a:moveTo>
                  <a:pt x="6010592" y="0"/>
                </a:moveTo>
                <a:lnTo>
                  <a:pt x="8235629" y="4"/>
                </a:lnTo>
                <a:cubicBezTo>
                  <a:pt x="8235629" y="3"/>
                  <a:pt x="8235630" y="3"/>
                  <a:pt x="8235630" y="2"/>
                </a:cubicBezTo>
                <a:lnTo>
                  <a:pt x="9098732" y="0"/>
                </a:lnTo>
                <a:lnTo>
                  <a:pt x="9098732" y="6858000"/>
                </a:lnTo>
                <a:lnTo>
                  <a:pt x="0" y="6858000"/>
                </a:lnTo>
                <a:lnTo>
                  <a:pt x="6010589" y="4"/>
                </a:lnTo>
                <a:cubicBezTo>
                  <a:pt x="6010589" y="3"/>
                  <a:pt x="6010590" y="3"/>
                  <a:pt x="6010590" y="2"/>
                </a:cubicBezTo>
                <a:close/>
              </a:path>
            </a:pathLst>
          </a:custGeom>
        </p:spPr>
      </p:pic>
      <p:sp>
        <p:nvSpPr>
          <p:cNvPr id="124" name="Freeform: Shape 123">
            <a:extLst>
              <a:ext uri="{FF2B5EF4-FFF2-40B4-BE49-F238E27FC236}">
                <a16:creationId xmlns:a16="http://schemas.microsoft.com/office/drawing/2014/main" id="{02E0C409-730D-455F-AA8F-0646ABDB1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8973" y="0"/>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alpha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078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6C3B-8549-9862-05D0-4E8718879790}"/>
              </a:ext>
            </a:extLst>
          </p:cNvPr>
          <p:cNvSpPr>
            <a:spLocks noGrp="1"/>
          </p:cNvSpPr>
          <p:nvPr>
            <p:ph type="title"/>
          </p:nvPr>
        </p:nvSpPr>
        <p:spPr>
          <a:xfrm>
            <a:off x="-1157748" y="0"/>
            <a:ext cx="9905999" cy="1360898"/>
          </a:xfrm>
        </p:spPr>
        <p:txBody>
          <a:bodyPr/>
          <a:lstStyle/>
          <a:p>
            <a:r>
              <a:rPr lang="en-IN" dirty="0"/>
              <a:t>            PURPOSE</a:t>
            </a:r>
          </a:p>
        </p:txBody>
      </p:sp>
      <p:sp>
        <p:nvSpPr>
          <p:cNvPr id="4" name="Content Placeholder 3">
            <a:extLst>
              <a:ext uri="{FF2B5EF4-FFF2-40B4-BE49-F238E27FC236}">
                <a16:creationId xmlns:a16="http://schemas.microsoft.com/office/drawing/2014/main" id="{FFE9D301-AEDE-999F-0193-E155609955D1}"/>
              </a:ext>
            </a:extLst>
          </p:cNvPr>
          <p:cNvSpPr>
            <a:spLocks noGrp="1"/>
          </p:cNvSpPr>
          <p:nvPr>
            <p:ph idx="1"/>
          </p:nvPr>
        </p:nvSpPr>
        <p:spPr/>
        <p:txBody>
          <a:bodyPr>
            <a:normAutofit/>
          </a:bodyPr>
          <a:lstStyle/>
          <a:p>
            <a:pPr marL="0" indent="0">
              <a:buNone/>
            </a:pPr>
            <a:r>
              <a:rPr lang="en-US" dirty="0"/>
              <a:t>This project explores and verifies the fundamental properties of the Power Spectral Density (PSD) of a Wide-Sense Stationary (WSS) random process. Specifically, it focuses on non-negativity and even symmetry. These properties are first proven analytically using the Wiener–</a:t>
            </a:r>
            <a:r>
              <a:rPr lang="en-US" dirty="0" err="1"/>
              <a:t>Khinchin</a:t>
            </a:r>
            <a:r>
              <a:rPr lang="en-US" dirty="0"/>
              <a:t> theorem and then validated through MATLAB simulations. An exponentially decaying autocorrelation function is used due to its simplicity and practical relevance. Both analytical and simulation results confirm that the PSD is always non-negative and symmetric about zero frequency.</a:t>
            </a:r>
          </a:p>
        </p:txBody>
      </p:sp>
    </p:spTree>
    <p:extLst>
      <p:ext uri="{BB962C8B-B14F-4D97-AF65-F5344CB8AC3E}">
        <p14:creationId xmlns:p14="http://schemas.microsoft.com/office/powerpoint/2010/main" val="2635609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5735-8B60-7CFF-E08E-EF55604FCB27}"/>
              </a:ext>
            </a:extLst>
          </p:cNvPr>
          <p:cNvSpPr>
            <a:spLocks noGrp="1"/>
          </p:cNvSpPr>
          <p:nvPr>
            <p:ph type="title"/>
          </p:nvPr>
        </p:nvSpPr>
        <p:spPr>
          <a:xfrm>
            <a:off x="-2504768" y="0"/>
            <a:ext cx="9905999" cy="1360898"/>
          </a:xfrm>
        </p:spPr>
        <p:txBody>
          <a:bodyPr/>
          <a:lstStyle/>
          <a:p>
            <a:r>
              <a:rPr lang="en-IN" dirty="0"/>
              <a:t>                         INTRODUCTION</a:t>
            </a:r>
          </a:p>
        </p:txBody>
      </p:sp>
      <p:sp>
        <p:nvSpPr>
          <p:cNvPr id="3" name="Content Placeholder 2">
            <a:extLst>
              <a:ext uri="{FF2B5EF4-FFF2-40B4-BE49-F238E27FC236}">
                <a16:creationId xmlns:a16="http://schemas.microsoft.com/office/drawing/2014/main" id="{EE578B47-478F-E185-0B2C-D529A51F78D2}"/>
              </a:ext>
            </a:extLst>
          </p:cNvPr>
          <p:cNvSpPr>
            <a:spLocks noGrp="1"/>
          </p:cNvSpPr>
          <p:nvPr>
            <p:ph idx="1"/>
          </p:nvPr>
        </p:nvSpPr>
        <p:spPr>
          <a:xfrm>
            <a:off x="1143000" y="2361523"/>
            <a:ext cx="9905999" cy="3567118"/>
          </a:xfrm>
        </p:spPr>
        <p:txBody>
          <a:bodyPr>
            <a:normAutofit/>
          </a:bodyPr>
          <a:lstStyle/>
          <a:p>
            <a:pPr marL="139700" indent="0">
              <a:buNone/>
            </a:pPr>
            <a:r>
              <a:rPr lang="en-US" dirty="0"/>
              <a:t>The Power Spectral Density (PSD) describes how the power of a signal is distributed across different frequencies. For a real-valued WSS random process, the PSD is defined as the Fourier transform of its autocorrelation function, according to the Wiener–</a:t>
            </a:r>
            <a:r>
              <a:rPr lang="en-US" dirty="0" err="1"/>
              <a:t>Khinchin</a:t>
            </a:r>
            <a:r>
              <a:rPr lang="en-US" dirty="0"/>
              <a:t> theorem. Two essential properties of PSD are non-negativity and even symmetry. Non-negativity arises because power cannot be negative, while even symmetry results from the real-valued nature of the signal. This presentation demonstrates both properties through theory and simulation.</a:t>
            </a:r>
          </a:p>
        </p:txBody>
      </p:sp>
    </p:spTree>
    <p:extLst>
      <p:ext uri="{BB962C8B-B14F-4D97-AF65-F5344CB8AC3E}">
        <p14:creationId xmlns:p14="http://schemas.microsoft.com/office/powerpoint/2010/main" val="1504406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308" y="0"/>
            <a:ext cx="6873692" cy="6858000"/>
          </a:xfrm>
          <a:custGeom>
            <a:avLst/>
            <a:gdLst/>
            <a:ahLst/>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2" name="Straight Connector 21">
            <a:extLst>
              <a:ext uri="{FF2B5EF4-FFF2-40B4-BE49-F238E27FC236}">
                <a16:creationId xmlns:a16="http://schemas.microsoft.com/office/drawing/2014/main" id="{4C75A547-BCD1-42BE-966E-53CA0AB9316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6D1F4DC3-EDAB-401A-BD21-33D25AB5F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059D4DD-D247-47C8-B574-B36CB222C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1127553" y="-1127553"/>
            <a:ext cx="6858000" cy="9113106"/>
          </a:xfrm>
          <a:custGeom>
            <a:avLst/>
            <a:gdLst>
              <a:gd name="connsiteX0" fmla="*/ 0 w 6858000"/>
              <a:gd name="connsiteY0" fmla="*/ 7143270 h 9113106"/>
              <a:gd name="connsiteX1" fmla="*/ 0 w 6858000"/>
              <a:gd name="connsiteY1" fmla="*/ 6878623 h 9113106"/>
              <a:gd name="connsiteX2" fmla="*/ 1 w 6858000"/>
              <a:gd name="connsiteY2" fmla="*/ 6878623 h 9113106"/>
              <a:gd name="connsiteX3" fmla="*/ 0 w 6858000"/>
              <a:gd name="connsiteY3" fmla="*/ 4319945 h 9113106"/>
              <a:gd name="connsiteX4" fmla="*/ 1 w 6858000"/>
              <a:gd name="connsiteY4" fmla="*/ 4319945 h 9113106"/>
              <a:gd name="connsiteX5" fmla="*/ 1 w 6858000"/>
              <a:gd name="connsiteY5" fmla="*/ 13542 h 9113106"/>
              <a:gd name="connsiteX6" fmla="*/ 0 w 6858000"/>
              <a:gd name="connsiteY6" fmla="*/ 13540 h 9113106"/>
              <a:gd name="connsiteX7" fmla="*/ 0 w 6858000"/>
              <a:gd name="connsiteY7" fmla="*/ 0 h 9113106"/>
              <a:gd name="connsiteX8" fmla="*/ 6858000 w 6858000"/>
              <a:gd name="connsiteY8" fmla="*/ 6010591 h 9113106"/>
              <a:gd name="connsiteX9" fmla="*/ 6858000 w 6858000"/>
              <a:gd name="connsiteY9" fmla="*/ 3794798 h 9113106"/>
              <a:gd name="connsiteX10" fmla="*/ 6858000 w 6858000"/>
              <a:gd name="connsiteY10" fmla="*/ 3794798 h 9113106"/>
              <a:gd name="connsiteX11" fmla="*/ 6858000 w 6858000"/>
              <a:gd name="connsiteY11" fmla="*/ 3837120 h 9113106"/>
              <a:gd name="connsiteX12" fmla="*/ 6858000 w 6858000"/>
              <a:gd name="connsiteY12" fmla="*/ 6838049 h 9113106"/>
              <a:gd name="connsiteX13" fmla="*/ 6858000 w 6858000"/>
              <a:gd name="connsiteY13" fmla="*/ 9113106 h 9113106"/>
              <a:gd name="connsiteX14" fmla="*/ 1 w 6858000"/>
              <a:gd name="connsiteY14" fmla="*/ 9113106 h 9113106"/>
              <a:gd name="connsiteX15" fmla="*/ 1 w 6858000"/>
              <a:gd name="connsiteY15" fmla="*/ 7143270 h 9113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9113106">
                <a:moveTo>
                  <a:pt x="0" y="7143270"/>
                </a:moveTo>
                <a:lnTo>
                  <a:pt x="0" y="6878623"/>
                </a:lnTo>
                <a:lnTo>
                  <a:pt x="1" y="6878623"/>
                </a:lnTo>
                <a:lnTo>
                  <a:pt x="0" y="4319945"/>
                </a:lnTo>
                <a:lnTo>
                  <a:pt x="1" y="4319945"/>
                </a:lnTo>
                <a:lnTo>
                  <a:pt x="1" y="13542"/>
                </a:lnTo>
                <a:lnTo>
                  <a:pt x="0" y="13540"/>
                </a:lnTo>
                <a:lnTo>
                  <a:pt x="0" y="0"/>
                </a:lnTo>
                <a:lnTo>
                  <a:pt x="6858000" y="6010591"/>
                </a:lnTo>
                <a:lnTo>
                  <a:pt x="6858000" y="3794798"/>
                </a:lnTo>
                <a:lnTo>
                  <a:pt x="6858000" y="3794798"/>
                </a:lnTo>
                <a:lnTo>
                  <a:pt x="6858000" y="3837120"/>
                </a:lnTo>
                <a:lnTo>
                  <a:pt x="6858000" y="6838049"/>
                </a:lnTo>
                <a:lnTo>
                  <a:pt x="6858000" y="9113106"/>
                </a:lnTo>
                <a:lnTo>
                  <a:pt x="1" y="9113106"/>
                </a:lnTo>
                <a:lnTo>
                  <a:pt x="1" y="7143270"/>
                </a:lnTo>
                <a:close/>
              </a:path>
            </a:pathLst>
          </a:cu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B7A1EB7-5A66-412F-B818-550F41621C85}"/>
              </a:ext>
            </a:extLst>
          </p:cNvPr>
          <p:cNvSpPr>
            <a:spLocks noGrp="1"/>
          </p:cNvSpPr>
          <p:nvPr>
            <p:ph type="title"/>
          </p:nvPr>
        </p:nvSpPr>
        <p:spPr>
          <a:xfrm>
            <a:off x="590341" y="290131"/>
            <a:ext cx="9527053" cy="2832404"/>
          </a:xfrm>
        </p:spPr>
        <p:txBody>
          <a:bodyPr vert="horz" lIns="91440" tIns="45720" rIns="91440" bIns="45720" rtlCol="0" anchor="t">
            <a:normAutofit/>
          </a:bodyPr>
          <a:lstStyle/>
          <a:p>
            <a:r>
              <a:rPr lang="en-US" dirty="0"/>
              <a:t>MATHEMATICAL MODEL</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996677EF-0C1D-EA9C-6C98-979F602D0FE5}"/>
                  </a:ext>
                </a:extLst>
              </p:cNvPr>
              <p:cNvSpPr>
                <a:spLocks noGrp="1"/>
              </p:cNvSpPr>
              <p:nvPr>
                <p:ph idx="1"/>
              </p:nvPr>
            </p:nvSpPr>
            <p:spPr>
              <a:xfrm>
                <a:off x="1143000" y="1553497"/>
                <a:ext cx="9905999" cy="4345647"/>
              </a:xfrm>
            </p:spPr>
            <p:txBody>
              <a:bodyPr>
                <a:normAutofit lnSpcReduction="10000"/>
              </a:bodyPr>
              <a:lstStyle/>
              <a:p>
                <a:pPr marL="0" indent="0">
                  <a:buNone/>
                </a:pPr>
                <a:r>
                  <a:rPr lang="en-IN" dirty="0"/>
                  <a:t>We consider a real-valued Wide-Sense Stationary (WSS) random process </a:t>
                </a:r>
                <a14:m>
                  <m:oMath xmlns:m="http://schemas.openxmlformats.org/officeDocument/2006/math">
                    <m:r>
                      <a:rPr lang="en-IN" b="0" i="1"/>
                      <m:t>𝑋</m:t>
                    </m:r>
                    <m:d>
                      <m:dPr>
                        <m:ctrlPr>
                          <a:rPr lang="ar-AE" i="1"/>
                        </m:ctrlPr>
                      </m:dPr>
                      <m:e>
                        <m:r>
                          <a:rPr lang="ar-AE" b="0" i="1"/>
                          <m:t>𝑡</m:t>
                        </m:r>
                      </m:e>
                    </m:d>
                  </m:oMath>
                </a14:m>
                <a:r>
                  <a:rPr lang="ar-AE" dirty="0"/>
                  <a:t>. </a:t>
                </a:r>
                <a:r>
                  <a:rPr lang="en-IN" dirty="0"/>
                  <a:t>A process is WSS if its statistical properties do not change with time, and its autocorrelation depends only on time difference </a:t>
                </a:r>
                <a14:m>
                  <m:oMath xmlns:m="http://schemas.openxmlformats.org/officeDocument/2006/math">
                    <m:r>
                      <a:rPr lang="en-IN" b="0" i="1"/>
                      <m:t>𝜏</m:t>
                    </m:r>
                  </m:oMath>
                </a14:m>
                <a:r>
                  <a:rPr lang="en-IN" dirty="0"/>
                  <a:t>.</a:t>
                </a:r>
              </a:p>
              <a:p>
                <a:pPr marL="0" indent="0">
                  <a:buNone/>
                </a:pPr>
                <a:r>
                  <a:rPr lang="en-IN" dirty="0"/>
                  <a:t>The autocorrelation function (ACF) of the process is defined as:</a:t>
                </a:r>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b="0" i="1"/>
                            <m:t>𝑅</m:t>
                          </m:r>
                        </m:e>
                        <m:sub>
                          <m:r>
                            <a:rPr lang="ar-AE" b="0" i="1"/>
                            <m:t>𝑋</m:t>
                          </m:r>
                        </m:sub>
                      </m:sSub>
                      <m:d>
                        <m:dPr>
                          <m:ctrlPr>
                            <a:rPr lang="ar-AE" i="1"/>
                          </m:ctrlPr>
                        </m:dPr>
                        <m:e>
                          <m:r>
                            <a:rPr lang="ar-AE" b="0" i="1"/>
                            <m:t>𝜏</m:t>
                          </m:r>
                        </m:e>
                      </m:d>
                      <m:r>
                        <a:rPr lang="ar-AE" b="0"/>
                        <m:t>=</m:t>
                      </m:r>
                      <m:r>
                        <a:rPr lang="ar-AE" b="0"/>
                        <m:t>𝔼</m:t>
                      </m:r>
                      <m:d>
                        <m:dPr>
                          <m:begChr m:val="["/>
                          <m:endChr m:val="]"/>
                          <m:ctrlPr>
                            <a:rPr lang="ar-AE" i="1"/>
                          </m:ctrlPr>
                        </m:dPr>
                        <m:e>
                          <m:r>
                            <a:rPr lang="ar-AE" b="0" i="1"/>
                            <m:t>𝑋</m:t>
                          </m:r>
                          <m:d>
                            <m:dPr>
                              <m:ctrlPr>
                                <a:rPr lang="ar-AE" i="1"/>
                              </m:ctrlPr>
                            </m:dPr>
                            <m:e>
                              <m:r>
                                <a:rPr lang="ar-AE" b="0" i="1"/>
                                <m:t>𝑡</m:t>
                              </m:r>
                            </m:e>
                          </m:d>
                          <m:r>
                            <a:rPr lang="ar-AE" b="0" i="1"/>
                            <m:t>𝑋</m:t>
                          </m:r>
                          <m:d>
                            <m:dPr>
                              <m:ctrlPr>
                                <a:rPr lang="ar-AE" i="1"/>
                              </m:ctrlPr>
                            </m:dPr>
                            <m:e>
                              <m:r>
                                <a:rPr lang="ar-AE" b="0" i="1"/>
                                <m:t>𝑡</m:t>
                              </m:r>
                              <m:r>
                                <a:rPr lang="ar-AE" b="0"/>
                                <m:t>+</m:t>
                              </m:r>
                              <m:r>
                                <a:rPr lang="ar-AE" b="0" i="1"/>
                                <m:t>𝜏</m:t>
                              </m:r>
                            </m:e>
                          </m:d>
                        </m:e>
                      </m:d>
                    </m:oMath>
                  </m:oMathPara>
                </a14:m>
                <a:endParaRPr lang="ar-AE" dirty="0"/>
              </a:p>
              <a:p>
                <a:pPr marL="0" indent="0">
                  <a:buNone/>
                </a:pPr>
                <a:r>
                  <a:rPr lang="en-IN" dirty="0"/>
                  <a:t>For this study, we assume an exponentially decaying autocorrelation function:</a:t>
                </a:r>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b="0" i="1"/>
                            <m:t>𝑅</m:t>
                          </m:r>
                        </m:e>
                        <m:sub>
                          <m:r>
                            <a:rPr lang="ar-AE" b="0" i="1"/>
                            <m:t>𝑋</m:t>
                          </m:r>
                        </m:sub>
                      </m:sSub>
                      <m:d>
                        <m:dPr>
                          <m:ctrlPr>
                            <a:rPr lang="ar-AE" i="1"/>
                          </m:ctrlPr>
                        </m:dPr>
                        <m:e>
                          <m:r>
                            <a:rPr lang="ar-AE" b="0" i="1"/>
                            <m:t>𝜏</m:t>
                          </m:r>
                        </m:e>
                      </m:d>
                      <m:r>
                        <a:rPr lang="ar-AE" b="0"/>
                        <m:t>=</m:t>
                      </m:r>
                      <m:sSup>
                        <m:sSupPr>
                          <m:ctrlPr>
                            <a:rPr lang="ar-AE" i="1"/>
                          </m:ctrlPr>
                        </m:sSupPr>
                        <m:e>
                          <m:r>
                            <a:rPr lang="ar-AE" b="0" i="1"/>
                            <m:t>𝑒</m:t>
                          </m:r>
                        </m:e>
                        <m:sup>
                          <m:r>
                            <a:rPr lang="ar-AE" b="0"/>
                            <m:t>−</m:t>
                          </m:r>
                          <m:r>
                            <a:rPr lang="ar-AE" b="0" i="1"/>
                            <m:t>𝑎</m:t>
                          </m:r>
                          <m:r>
                            <a:rPr lang="ar-AE" b="0"/>
                            <m:t>∣</m:t>
                          </m:r>
                          <m:r>
                            <a:rPr lang="ar-AE" b="0" i="1"/>
                            <m:t>𝜏</m:t>
                          </m:r>
                          <m:r>
                            <a:rPr lang="ar-AE" b="0"/>
                            <m:t>∣</m:t>
                          </m:r>
                        </m:sup>
                      </m:sSup>
                    </m:oMath>
                  </m:oMathPara>
                </a14:m>
                <a:endParaRPr lang="ar-AE" dirty="0"/>
              </a:p>
              <a:p>
                <a:pPr marL="0" indent="0">
                  <a:buNone/>
                </a:pPr>
                <a:r>
                  <a:rPr lang="en-IN" dirty="0"/>
                  <a:t>where:</a:t>
                </a:r>
              </a:p>
              <a:p>
                <a:pPr marL="0" indent="0">
                  <a:buNone/>
                </a:pPr>
                <a14:m>
                  <m:oMath xmlns:m="http://schemas.openxmlformats.org/officeDocument/2006/math">
                    <m:r>
                      <a:rPr lang="en-IN" b="0" i="1"/>
                      <m:t>𝑎</m:t>
                    </m:r>
                    <m:r>
                      <a:rPr lang="en-IN" b="0"/>
                      <m:t>&gt;</m:t>
                    </m:r>
                    <m:r>
                      <a:rPr lang="en-IN" b="0" i="1"/>
                      <m:t>0</m:t>
                    </m:r>
                  </m:oMath>
                </a14:m>
                <a:r>
                  <a:rPr lang="en-IN" dirty="0"/>
                  <a:t>is the decay constant. </a:t>
                </a:r>
              </a:p>
              <a:p>
                <a:pPr marL="0" indent="0">
                  <a:buNone/>
                </a:pPr>
                <a14:m>
                  <m:oMath xmlns:m="http://schemas.openxmlformats.org/officeDocument/2006/math">
                    <m:r>
                      <a:rPr lang="en-IN" b="0" i="1"/>
                      <m:t>𝜏</m:t>
                    </m:r>
                  </m:oMath>
                </a14:m>
                <a:r>
                  <a:rPr lang="en-IN" dirty="0"/>
                  <a:t>is the time lag.</a:t>
                </a:r>
              </a:p>
              <a:p>
                <a:endParaRPr lang="en-IN" dirty="0"/>
              </a:p>
            </p:txBody>
          </p:sp>
        </mc:Choice>
        <mc:Fallback>
          <p:sp>
            <p:nvSpPr>
              <p:cNvPr id="4" name="Content Placeholder 3">
                <a:extLst>
                  <a:ext uri="{FF2B5EF4-FFF2-40B4-BE49-F238E27FC236}">
                    <a16:creationId xmlns:a16="http://schemas.microsoft.com/office/drawing/2014/main" id="{996677EF-0C1D-EA9C-6C98-979F602D0FE5}"/>
                  </a:ext>
                </a:extLst>
              </p:cNvPr>
              <p:cNvSpPr>
                <a:spLocks noGrp="1" noRot="1" noChangeAspect="1" noMove="1" noResize="1" noEditPoints="1" noAdjustHandles="1" noChangeArrowheads="1" noChangeShapeType="1" noTextEdit="1"/>
              </p:cNvSpPr>
              <p:nvPr>
                <p:ph idx="1"/>
              </p:nvPr>
            </p:nvSpPr>
            <p:spPr>
              <a:xfrm>
                <a:off x="1143000" y="1553497"/>
                <a:ext cx="9905999" cy="4345647"/>
              </a:xfrm>
              <a:blipFill>
                <a:blip r:embed="rId2"/>
                <a:stretch>
                  <a:fillRect l="-677" t="-701"/>
                </a:stretch>
              </a:blipFill>
            </p:spPr>
            <p:txBody>
              <a:bodyPr/>
              <a:lstStyle/>
              <a:p>
                <a:r>
                  <a:rPr lang="en-IN">
                    <a:noFill/>
                  </a:rPr>
                  <a:t> </a:t>
                </a:r>
              </a:p>
            </p:txBody>
          </p:sp>
        </mc:Fallback>
      </mc:AlternateContent>
    </p:spTree>
    <p:extLst>
      <p:ext uri="{BB962C8B-B14F-4D97-AF65-F5344CB8AC3E}">
        <p14:creationId xmlns:p14="http://schemas.microsoft.com/office/powerpoint/2010/main" val="729918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4EA1A-8FB8-CC38-A892-49E2504A93D3}"/>
              </a:ext>
            </a:extLst>
          </p:cNvPr>
          <p:cNvSpPr>
            <a:spLocks noGrp="1"/>
          </p:cNvSpPr>
          <p:nvPr>
            <p:ph type="title"/>
          </p:nvPr>
        </p:nvSpPr>
        <p:spPr>
          <a:xfrm>
            <a:off x="297426" y="125683"/>
            <a:ext cx="9905999" cy="1360898"/>
          </a:xfrm>
        </p:spPr>
        <p:txBody>
          <a:bodyPr/>
          <a:lstStyle/>
          <a:p>
            <a:r>
              <a:rPr lang="en-IN" dirty="0"/>
              <a:t>POWER SPECTRAL DENSITY</a:t>
            </a:r>
          </a:p>
        </p:txBody>
      </p:sp>
      <mc:AlternateContent xmlns:mc="http://schemas.openxmlformats.org/markup-compatibility/2006">
        <mc:Choice xmlns:a14="http://schemas.microsoft.com/office/drawing/2010/main" Requires="a14">
          <p:sp>
            <p:nvSpPr>
              <p:cNvPr id="3" name="Rectangle 1">
                <a:extLst>
                  <a:ext uri="{FF2B5EF4-FFF2-40B4-BE49-F238E27FC236}">
                    <a16:creationId xmlns:a16="http://schemas.microsoft.com/office/drawing/2014/main" id="{0E7A887C-A4CE-2ACF-C5C3-1D6967DAD2A1}"/>
                  </a:ext>
                </a:extLst>
              </p:cNvPr>
              <p:cNvSpPr>
                <a:spLocks noGrp="1" noChangeArrowheads="1"/>
              </p:cNvSpPr>
              <p:nvPr>
                <p:ph idx="1"/>
              </p:nvPr>
            </p:nvSpPr>
            <p:spPr bwMode="auto">
              <a:xfrm>
                <a:off x="432619" y="1099236"/>
                <a:ext cx="9770806" cy="563308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1800" dirty="0"/>
                  <a:t>Using Wiener–</a:t>
                </a:r>
                <a:r>
                  <a:rPr lang="en-IN" sz="1800" dirty="0" err="1"/>
                  <a:t>Khinchin</a:t>
                </a:r>
                <a:r>
                  <a:rPr lang="en-IN" sz="1800" dirty="0"/>
                  <a:t> theorem:</a:t>
                </a:r>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𝑆</m:t>
                          </m:r>
                        </m:e>
                        <m:sub>
                          <m:r>
                            <a:rPr lang="ar-AE" i="1"/>
                            <m:t>𝑋</m:t>
                          </m:r>
                        </m:sub>
                      </m:sSub>
                      <m:d>
                        <m:dPr>
                          <m:ctrlPr>
                            <a:rPr lang="ar-AE" i="1"/>
                          </m:ctrlPr>
                        </m:dPr>
                        <m:e>
                          <m:r>
                            <a:rPr lang="ar-AE" i="1"/>
                            <m:t>𝑓</m:t>
                          </m:r>
                        </m:e>
                      </m:d>
                      <m:r>
                        <a:rPr lang="ar-AE"/>
                        <m:t>=</m:t>
                      </m:r>
                      <m:nary>
                        <m:naryPr>
                          <m:grow m:val="on"/>
                          <m:ctrlPr>
                            <a:rPr lang="ar-AE" i="1"/>
                          </m:ctrlPr>
                        </m:naryPr>
                        <m:sub>
                          <m:r>
                            <a:rPr lang="ar-AE"/>
                            <m:t>−</m:t>
                          </m:r>
                          <m:r>
                            <a:rPr lang="ar-AE"/>
                            <m:t>∞</m:t>
                          </m:r>
                        </m:sub>
                        <m:sup>
                          <m:r>
                            <a:rPr lang="ar-AE"/>
                            <m:t>∞</m:t>
                          </m:r>
                        </m:sup>
                        <m:e>
                          <m:sSup>
                            <m:sSupPr>
                              <m:ctrlPr>
                                <a:rPr lang="ar-AE" i="1"/>
                              </m:ctrlPr>
                            </m:sSupPr>
                            <m:e>
                              <m:r>
                                <a:rPr lang="ar-AE" i="1"/>
                                <m:t>𝑒</m:t>
                              </m:r>
                            </m:e>
                            <m:sup>
                              <m:r>
                                <a:rPr lang="ar-AE"/>
                                <m:t>−</m:t>
                              </m:r>
                              <m:r>
                                <a:rPr lang="ar-AE" i="1"/>
                                <m:t>𝑎</m:t>
                              </m:r>
                              <m:r>
                                <a:rPr lang="ar-AE"/>
                                <m:t>∣</m:t>
                              </m:r>
                              <m:r>
                                <a:rPr lang="ar-AE" i="1"/>
                                <m:t>𝜏</m:t>
                              </m:r>
                              <m:r>
                                <a:rPr lang="ar-AE"/>
                                <m:t>∣</m:t>
                              </m:r>
                            </m:sup>
                          </m:sSup>
                        </m:e>
                      </m:nary>
                      <m:sSup>
                        <m:sSupPr>
                          <m:ctrlPr>
                            <a:rPr lang="ar-AE" i="1"/>
                          </m:ctrlPr>
                        </m:sSupPr>
                        <m:e>
                          <m:r>
                            <a:rPr lang="ar-AE" i="1"/>
                            <m:t>𝑒</m:t>
                          </m:r>
                        </m:e>
                        <m:sup>
                          <m:r>
                            <a:rPr lang="ar-AE"/>
                            <m:t>−</m:t>
                          </m:r>
                          <m:r>
                            <a:rPr lang="ar-AE" i="1"/>
                            <m:t>𝑗</m:t>
                          </m:r>
                          <m:r>
                            <a:rPr lang="ar-AE"/>
                            <m:t>2</m:t>
                          </m:r>
                          <m:r>
                            <a:rPr lang="ar-AE" i="1"/>
                            <m:t>𝜋</m:t>
                          </m:r>
                          <m:r>
                            <a:rPr lang="ar-AE" i="1"/>
                            <m:t>𝑓</m:t>
                          </m:r>
                          <m:r>
                            <a:rPr lang="ar-AE" i="1"/>
                            <m:t>𝜏</m:t>
                          </m:r>
                        </m:sup>
                      </m:sSup>
                      <m:r>
                        <a:rPr lang="ar-AE" i="1"/>
                        <m:t>𝑑</m:t>
                      </m:r>
                      <m:r>
                        <a:rPr lang="ar-AE" i="1"/>
                        <m:t>𝜏</m:t>
                      </m:r>
                    </m:oMath>
                  </m:oMathPara>
                </a14:m>
                <a:endParaRPr lang="ar-AE" sz="1800" dirty="0"/>
              </a:p>
              <a:p>
                <a:pPr marL="0" indent="0">
                  <a:buNone/>
                </a:pPr>
                <a:r>
                  <a:rPr lang="en-IN" sz="1800" dirty="0"/>
                  <a:t>Solving the integral gives:</a:t>
                </a:r>
              </a:p>
              <a:p>
                <a:pPr marL="0"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𝑆</m:t>
                          </m:r>
                        </m:e>
                        <m:sub>
                          <m:r>
                            <a:rPr lang="ar-AE" i="1"/>
                            <m:t>𝑋</m:t>
                          </m:r>
                        </m:sub>
                      </m:sSub>
                      <m:d>
                        <m:dPr>
                          <m:ctrlPr>
                            <a:rPr lang="ar-AE" i="1"/>
                          </m:ctrlPr>
                        </m:dPr>
                        <m:e>
                          <m:r>
                            <a:rPr lang="ar-AE" i="1"/>
                            <m:t>𝑓</m:t>
                          </m:r>
                        </m:e>
                      </m:d>
                      <m:r>
                        <a:rPr lang="ar-AE"/>
                        <m:t>=</m:t>
                      </m:r>
                      <m:f>
                        <m:fPr>
                          <m:ctrlPr>
                            <a:rPr lang="ar-AE" i="1"/>
                          </m:ctrlPr>
                        </m:fPr>
                        <m:num>
                          <m:r>
                            <a:rPr lang="ar-AE"/>
                            <m:t>2</m:t>
                          </m:r>
                          <m:r>
                            <a:rPr lang="ar-AE" i="1"/>
                            <m:t>𝑎</m:t>
                          </m:r>
                        </m:num>
                        <m:den>
                          <m:sSup>
                            <m:sSupPr>
                              <m:ctrlPr>
                                <a:rPr lang="ar-AE" i="1"/>
                              </m:ctrlPr>
                            </m:sSupPr>
                            <m:e>
                              <m:r>
                                <a:rPr lang="ar-AE" i="1"/>
                                <m:t>𝑎</m:t>
                              </m:r>
                            </m:e>
                            <m:sup>
                              <m:r>
                                <a:rPr lang="ar-AE"/>
                                <m:t>2</m:t>
                              </m:r>
                            </m:sup>
                          </m:sSup>
                          <m:r>
                            <a:rPr lang="ar-AE"/>
                            <m:t>+</m:t>
                          </m:r>
                          <m:sSup>
                            <m:sSupPr>
                              <m:ctrlPr>
                                <a:rPr lang="ar-AE" i="1"/>
                              </m:ctrlPr>
                            </m:sSupPr>
                            <m:e>
                              <m:d>
                                <m:dPr>
                                  <m:ctrlPr>
                                    <a:rPr lang="ar-AE" i="1"/>
                                  </m:ctrlPr>
                                </m:dPr>
                                <m:e>
                                  <m:r>
                                    <a:rPr lang="ar-AE"/>
                                    <m:t>2</m:t>
                                  </m:r>
                                  <m:r>
                                    <a:rPr lang="ar-AE" i="1"/>
                                    <m:t>𝜋</m:t>
                                  </m:r>
                                  <m:r>
                                    <a:rPr lang="ar-AE" i="1"/>
                                    <m:t>𝑓</m:t>
                                  </m:r>
                                </m:e>
                              </m:d>
                            </m:e>
                            <m:sup>
                              <m:r>
                                <a:rPr lang="ar-AE"/>
                                <m:t>2</m:t>
                              </m:r>
                            </m:sup>
                          </m:sSup>
                        </m:den>
                      </m:f>
                    </m:oMath>
                  </m:oMathPara>
                </a14:m>
                <a:endParaRPr lang="ar-AE" sz="1800" dirty="0"/>
              </a:p>
              <a:p>
                <a:pPr marL="0" indent="0">
                  <a:buNone/>
                </a:pPr>
                <a:r>
                  <a:rPr lang="en-IN" sz="1800" dirty="0"/>
                  <a:t>This is a </a:t>
                </a:r>
                <a:r>
                  <a:rPr lang="en-IN" sz="1800" b="1" dirty="0"/>
                  <a:t>Lorentzian spectrum</a:t>
                </a:r>
                <a:r>
                  <a:rPr lang="en-IN" sz="1800" dirty="0"/>
                  <a:t>, symmetric around </a:t>
                </a:r>
                <a14:m>
                  <m:oMath xmlns:m="http://schemas.openxmlformats.org/officeDocument/2006/math">
                    <m:r>
                      <a:rPr lang="en-IN" i="1"/>
                      <m:t>𝑓</m:t>
                    </m:r>
                    <m:r>
                      <a:rPr lang="en-IN"/>
                      <m:t>=</m:t>
                    </m:r>
                    <m:r>
                      <a:rPr lang="en-IN"/>
                      <m:t>0</m:t>
                    </m:r>
                  </m:oMath>
                </a14:m>
                <a:r>
                  <a:rPr lang="en-IN" sz="1800" dirty="0"/>
                  <a:t>.</a:t>
                </a:r>
              </a:p>
              <a:p>
                <a:pPr marL="0" indent="0">
                  <a:buNone/>
                </a:pPr>
                <a:endParaRPr lang="en-IN" sz="1800" b="1" dirty="0"/>
              </a:p>
              <a:p>
                <a:pPr marL="0" indent="0">
                  <a:buNone/>
                </a:pPr>
                <a:r>
                  <a:rPr lang="en-IN" sz="1800" dirty="0"/>
                  <a:t>The simulation uses parameters such as:</a:t>
                </a:r>
              </a:p>
              <a:p>
                <a:pPr marL="0" indent="0">
                  <a:buNone/>
                </a:pPr>
                <a14:m>
                  <m:oMath xmlns:m="http://schemas.openxmlformats.org/officeDocument/2006/math">
                    <m:r>
                      <a:rPr lang="en-IN" i="1"/>
                      <m:t>𝑎</m:t>
                    </m:r>
                    <m:r>
                      <a:rPr lang="en-IN"/>
                      <m:t>=</m:t>
                    </m:r>
                    <m:r>
                      <a:rPr lang="en-IN"/>
                      <m:t>2</m:t>
                    </m:r>
                    <m:r>
                      <a:rPr lang="en-IN" b="0" i="0" smtClean="0">
                        <a:latin typeface="Cambria Math" panose="02040503050406030204" pitchFamily="18" charset="0"/>
                      </a:rPr>
                      <m:t>,  </m:t>
                    </m:r>
                  </m:oMath>
                </a14:m>
                <a:r>
                  <a:rPr lang="en-IN" sz="1800" dirty="0"/>
                  <a:t>Sampling frequency </a:t>
                </a:r>
                <a14:m>
                  <m:oMath xmlns:m="http://schemas.openxmlformats.org/officeDocument/2006/math">
                    <m:sSub>
                      <m:sSubPr>
                        <m:ctrlPr>
                          <a:rPr lang="ar-AE"/>
                        </m:ctrlPr>
                      </m:sSubPr>
                      <m:e>
                        <m:r>
                          <a:rPr lang="ar-AE" i="1"/>
                          <m:t>𝑓</m:t>
                        </m:r>
                      </m:e>
                      <m:sub>
                        <m:r>
                          <a:rPr lang="ar-AE" i="1"/>
                          <m:t>𝑠</m:t>
                        </m:r>
                      </m:sub>
                    </m:sSub>
                    <m:r>
                      <a:rPr lang="ar-AE"/>
                      <m:t>=</m:t>
                    </m:r>
                    <m:r>
                      <a:rPr lang="ar-AE"/>
                      <m:t>1000</m:t>
                    </m:r>
                    <m:r>
                      <m:rPr>
                        <m:nor/>
                      </m:rPr>
                      <a:rPr lang="ar-AE" i="1"/>
                      <m:t> </m:t>
                    </m:r>
                    <m:r>
                      <m:rPr>
                        <m:nor/>
                      </m:rPr>
                      <a:rPr lang="en-IN" i="1"/>
                      <m:t>Hz</m:t>
                    </m:r>
                  </m:oMath>
                </a14:m>
                <a:r>
                  <a:rPr lang="en-IN" sz="1800" dirty="0"/>
                  <a:t>, FFT length </a:t>
                </a:r>
                <a14:m>
                  <m:oMath xmlns:m="http://schemas.openxmlformats.org/officeDocument/2006/math">
                    <m:r>
                      <a:rPr lang="en-IN" i="1"/>
                      <m:t>𝑁</m:t>
                    </m:r>
                    <m:r>
                      <a:rPr lang="en-IN"/>
                      <m:t>=</m:t>
                    </m:r>
                    <m:r>
                      <a:rPr lang="en-IN"/>
                      <m:t>4096</m:t>
                    </m:r>
                  </m:oMath>
                </a14:m>
                <a:r>
                  <a:rPr lang="en-IN" sz="1800" dirty="0"/>
                  <a:t>, Duration </a:t>
                </a:r>
                <a14:m>
                  <m:oMath xmlns:m="http://schemas.openxmlformats.org/officeDocument/2006/math">
                    <m:r>
                      <a:rPr lang="en-IN" i="1"/>
                      <m:t>𝑇</m:t>
                    </m:r>
                    <m:r>
                      <a:rPr lang="en-IN"/>
                      <m:t>=</m:t>
                    </m:r>
                    <m:r>
                      <a:rPr lang="en-IN"/>
                      <m:t>4</m:t>
                    </m:r>
                    <m:r>
                      <a:rPr lang="en-IN"/>
                      <m:t>.</m:t>
                    </m:r>
                    <m:r>
                      <a:rPr lang="en-IN"/>
                      <m:t>096</m:t>
                    </m:r>
                    <m:r>
                      <m:rPr>
                        <m:nor/>
                      </m:rPr>
                      <a:rPr lang="en-IN" i="1"/>
                      <m:t> </m:t>
                    </m:r>
                    <m:r>
                      <m:rPr>
                        <m:nor/>
                      </m:rPr>
                      <a:rPr lang="en-IN" i="1"/>
                      <m:t>s</m:t>
                    </m:r>
                  </m:oMath>
                </a14:m>
                <a:endParaRPr lang="en-IN" sz="1800" dirty="0"/>
              </a:p>
              <a:p>
                <a:pPr marL="0" indent="0">
                  <a:buNone/>
                </a:pPr>
                <a:r>
                  <a:rPr lang="en-IN" sz="1800" dirty="0"/>
                  <a:t>These ensure accurate numerical computation of PSD.</a:t>
                </a:r>
              </a:p>
              <a:p>
                <a:pPr marL="0" indent="0">
                  <a:buNone/>
                </a:pPr>
                <a:endParaRPr lang="en-IN"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p:sp>
            <p:nvSpPr>
              <p:cNvPr id="3" name="Rectangle 1">
                <a:extLst>
                  <a:ext uri="{FF2B5EF4-FFF2-40B4-BE49-F238E27FC236}">
                    <a16:creationId xmlns:a16="http://schemas.microsoft.com/office/drawing/2014/main" id="{0E7A887C-A4CE-2ACF-C5C3-1D6967DAD2A1}"/>
                  </a:ext>
                </a:extLst>
              </p:cNvPr>
              <p:cNvSpPr>
                <a:spLocks noGrp="1" noRot="1" noChangeAspect="1" noMove="1" noResize="1" noEditPoints="1" noAdjustHandles="1" noChangeArrowheads="1" noChangeShapeType="1" noTextEdit="1"/>
              </p:cNvSpPr>
              <p:nvPr>
                <p:ph idx="1"/>
              </p:nvPr>
            </p:nvSpPr>
            <p:spPr bwMode="auto">
              <a:xfrm>
                <a:off x="432619" y="1099236"/>
                <a:ext cx="9770806" cy="5633081"/>
              </a:xfrm>
              <a:prstGeom prst="rect">
                <a:avLst/>
              </a:prstGeom>
              <a:blipFill>
                <a:blip r:embed="rId2"/>
                <a:stretch>
                  <a:fillRect l="-5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1592575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0746" y="168379"/>
            <a:ext cx="11430000" cy="707886"/>
          </a:xfrm>
          <a:prstGeom prst="rect">
            <a:avLst/>
          </a:prstGeom>
          <a:noFill/>
        </p:spPr>
        <p:txBody>
          <a:bodyPr wrap="square">
            <a:spAutoFit/>
          </a:bodyPr>
          <a:lstStyle/>
          <a:p>
            <a:pPr algn="l"/>
            <a:r>
              <a:rPr lang="en-IN" sz="4000" dirty="0">
                <a:solidFill>
                  <a:srgbClr val="FFFFFF"/>
                </a:solidFill>
              </a:rPr>
              <a:t>MATLAB CODE FOR NON NEGATIVITY</a:t>
            </a:r>
            <a:endParaRPr sz="4000" dirty="0">
              <a:solidFill>
                <a:srgbClr val="FFFFFF"/>
              </a:solidFill>
            </a:endParaRPr>
          </a:p>
        </p:txBody>
      </p:sp>
      <p:sp>
        <p:nvSpPr>
          <p:cNvPr id="4" name="Rectangle 3"/>
          <p:cNvSpPr/>
          <p:nvPr/>
        </p:nvSpPr>
        <p:spPr>
          <a:xfrm>
            <a:off x="1588" y="6629400"/>
            <a:ext cx="12188952"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5908" y="6675120"/>
            <a:ext cx="10972800" cy="215444"/>
          </a:xfrm>
          <a:prstGeom prst="rect">
            <a:avLst/>
          </a:prstGeom>
          <a:noFill/>
        </p:spPr>
        <p:txBody>
          <a:bodyPr wrap="square">
            <a:spAutoFit/>
          </a:bodyPr>
          <a:lstStyle/>
          <a:p>
            <a:pPr algn="l"/>
            <a:r>
              <a:rPr sz="800">
                <a:solidFill>
                  <a:srgbClr val="666666"/>
                </a:solidFill>
              </a:rPr>
              <a:t>Audio Noise Cancellation using Wiener Filter  |  Surya Singh  |  VIT Vellore</a:t>
            </a:r>
          </a:p>
        </p:txBody>
      </p:sp>
      <p:sp>
        <p:nvSpPr>
          <p:cNvPr id="6" name="TextBox 5"/>
          <p:cNvSpPr txBox="1"/>
          <p:nvPr/>
        </p:nvSpPr>
        <p:spPr>
          <a:xfrm>
            <a:off x="11797348" y="6492240"/>
            <a:ext cx="365760" cy="230832"/>
          </a:xfrm>
          <a:prstGeom prst="rect">
            <a:avLst/>
          </a:prstGeom>
          <a:noFill/>
        </p:spPr>
        <p:txBody>
          <a:bodyPr wrap="square">
            <a:spAutoFit/>
          </a:bodyPr>
          <a:lstStyle/>
          <a:p>
            <a:pPr algn="r"/>
            <a:r>
              <a:rPr sz="900">
                <a:solidFill>
                  <a:srgbClr val="666666"/>
                </a:solidFill>
              </a:rPr>
              <a:t>6</a:t>
            </a:r>
          </a:p>
        </p:txBody>
      </p:sp>
      <p:sp>
        <p:nvSpPr>
          <p:cNvPr id="22" name="Rectangle 21"/>
          <p:cNvSpPr/>
          <p:nvPr/>
        </p:nvSpPr>
        <p:spPr>
          <a:xfrm>
            <a:off x="3247708" y="1097280"/>
            <a:ext cx="45720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48876" y="1115569"/>
            <a:ext cx="182880" cy="276999"/>
          </a:xfrm>
          <a:prstGeom prst="rect">
            <a:avLst/>
          </a:prstGeom>
          <a:noFill/>
        </p:spPr>
        <p:txBody>
          <a:bodyPr wrap="square">
            <a:spAutoFit/>
          </a:bodyPr>
          <a:lstStyle/>
          <a:p>
            <a:pPr algn="ctr"/>
            <a:r>
              <a:rPr sz="1200">
                <a:solidFill>
                  <a:srgbClr val="003366"/>
                </a:solidFill>
              </a:rPr>
              <a:t>|</a:t>
            </a:r>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EC555B3E-42F1-2287-0A6D-14974881DE70}"/>
                  </a:ext>
                </a:extLst>
              </p:cNvPr>
              <p:cNvSpPr txBox="1"/>
              <p:nvPr/>
            </p:nvSpPr>
            <p:spPr>
              <a:xfrm>
                <a:off x="350745" y="973394"/>
                <a:ext cx="10808867" cy="5781070"/>
              </a:xfrm>
              <a:prstGeom prst="rect">
                <a:avLst/>
              </a:prstGeom>
              <a:noFill/>
            </p:spPr>
            <p:txBody>
              <a:bodyPr wrap="square">
                <a:spAutoFit/>
              </a:bodyPr>
              <a:lstStyle/>
              <a:p>
                <a:r>
                  <a:rPr lang="en-US" dirty="0"/>
                  <a:t>Let </a:t>
                </a:r>
                <a14:m>
                  <m:oMath xmlns:m="http://schemas.openxmlformats.org/officeDocument/2006/math">
                    <m:sSub>
                      <m:sSubPr>
                        <m:ctrlPr>
                          <a:rPr lang="en-IN" i="1"/>
                        </m:ctrlPr>
                      </m:sSubPr>
                      <m:e>
                        <m:r>
                          <a:rPr lang="en-US" i="1"/>
                          <m:t>𝑋</m:t>
                        </m:r>
                      </m:e>
                      <m:sub>
                        <m:r>
                          <a:rPr lang="en-US" i="1"/>
                          <m:t>𝑇</m:t>
                        </m:r>
                      </m:sub>
                    </m:sSub>
                    <m:r>
                      <a:rPr lang="en-US"/>
                      <m:t>(</m:t>
                    </m:r>
                    <m:r>
                      <a:rPr lang="en-US" i="1"/>
                      <m:t>𝑡</m:t>
                    </m:r>
                    <m:r>
                      <a:rPr lang="en-US"/>
                      <m:t>)=</m:t>
                    </m:r>
                    <m:r>
                      <a:rPr lang="en-US" i="1"/>
                      <m:t>𝑋</m:t>
                    </m:r>
                    <m:r>
                      <a:rPr lang="en-US"/>
                      <m:t>(</m:t>
                    </m:r>
                    <m:r>
                      <a:rPr lang="en-US" i="1"/>
                      <m:t>𝑡</m:t>
                    </m:r>
                    <m:r>
                      <a:rPr lang="en-US"/>
                      <m:t>)⋅</m:t>
                    </m:r>
                    <m:r>
                      <m:rPr>
                        <m:sty m:val="p"/>
                      </m:rPr>
                      <a:rPr lang="en-US"/>
                      <m:t>rect</m:t>
                    </m:r>
                    <m:r>
                      <a:rPr lang="en-US"/>
                      <m:t>(</m:t>
                    </m:r>
                    <m:r>
                      <a:rPr lang="en-US" i="1"/>
                      <m:t>𝑡</m:t>
                    </m:r>
                    <m:r>
                      <a:rPr lang="en-US"/>
                      <m:t>/</m:t>
                    </m:r>
                    <m:r>
                      <a:rPr lang="en-US" i="1"/>
                      <m:t>𝑇</m:t>
                    </m:r>
                    <m:r>
                      <a:rPr lang="en-US"/>
                      <m:t>)</m:t>
                    </m:r>
                  </m:oMath>
                </a14:m>
                <a:r>
                  <a:rPr lang="en-US" dirty="0"/>
                  <a:t> be the time-windowed version of the process, with Fourier transform </a:t>
                </a:r>
                <a14:m>
                  <m:oMath xmlns:m="http://schemas.openxmlformats.org/officeDocument/2006/math">
                    <m:sSub>
                      <m:sSubPr>
                        <m:ctrlPr>
                          <a:rPr lang="en-IN" i="1"/>
                        </m:ctrlPr>
                      </m:sSubPr>
                      <m:e>
                        <m:r>
                          <a:rPr lang="en-US" i="1"/>
                          <m:t>𝒳</m:t>
                        </m:r>
                      </m:e>
                      <m:sub>
                        <m:r>
                          <a:rPr lang="en-US" i="1"/>
                          <m:t>𝑇</m:t>
                        </m:r>
                      </m:sub>
                    </m:sSub>
                    <m:r>
                      <a:rPr lang="en-US"/>
                      <m:t>(</m:t>
                    </m:r>
                    <m:r>
                      <a:rPr lang="en-US" i="1"/>
                      <m:t>𝑓</m:t>
                    </m:r>
                    <m:r>
                      <a:rPr lang="en-US"/>
                      <m:t>)</m:t>
                    </m:r>
                  </m:oMath>
                </a14:m>
                <a:r>
                  <a:rPr lang="en-US" dirty="0"/>
                  <a:t>. By definition:</a:t>
                </a:r>
                <a:endParaRPr lang="en-IN" dirty="0"/>
              </a:p>
              <a:p>
                <a14:m>
                  <m:oMathPara xmlns:m="http://schemas.openxmlformats.org/officeDocument/2006/math">
                    <m:oMathParaPr>
                      <m:jc m:val="centerGroup"/>
                    </m:oMathParaPr>
                    <m:oMath xmlns:m="http://schemas.openxmlformats.org/officeDocument/2006/math">
                      <m:sSub>
                        <m:sSubPr>
                          <m:ctrlPr>
                            <a:rPr lang="en-IN" i="1"/>
                          </m:ctrlPr>
                        </m:sSubPr>
                        <m:e>
                          <m:r>
                            <a:rPr lang="en-US" i="1"/>
                            <m:t>𝑆</m:t>
                          </m:r>
                        </m:e>
                        <m:sub>
                          <m:r>
                            <a:rPr lang="en-US" i="1"/>
                            <m:t>𝑋</m:t>
                          </m:r>
                        </m:sub>
                      </m:sSub>
                      <m:r>
                        <a:rPr lang="en-US"/>
                        <m:t>(</m:t>
                      </m:r>
                      <m:r>
                        <a:rPr lang="en-US" i="1"/>
                        <m:t>𝑓</m:t>
                      </m:r>
                      <m:r>
                        <a:rPr lang="en-US"/>
                        <m:t>)=</m:t>
                      </m:r>
                      <m:limLow>
                        <m:limLowPr>
                          <m:ctrlPr>
                            <a:rPr lang="en-IN" i="1"/>
                          </m:ctrlPr>
                        </m:limLowPr>
                        <m:e>
                          <m:r>
                            <m:rPr>
                              <m:sty m:val="p"/>
                            </m:rPr>
                            <a:rPr lang="en-US"/>
                            <m:t>lim</m:t>
                          </m:r>
                        </m:e>
                        <m:lim>
                          <m:r>
                            <a:rPr lang="en-US" i="1"/>
                            <m:t>𝑇</m:t>
                          </m:r>
                          <m:r>
                            <a:rPr lang="en-US"/>
                            <m:t>→</m:t>
                          </m:r>
                          <m:r>
                            <a:rPr lang="en-US"/>
                            <m:t>∞</m:t>
                          </m:r>
                        </m:lim>
                      </m:limLow>
                      <m:r>
                        <a:rPr lang="en-US"/>
                        <m:t> </m:t>
                      </m:r>
                      <m:f>
                        <m:fPr>
                          <m:ctrlPr>
                            <a:rPr lang="en-IN" i="1"/>
                          </m:ctrlPr>
                        </m:fPr>
                        <m:num>
                          <m:r>
                            <a:rPr lang="en-US" i="1"/>
                            <m:t>𝐸</m:t>
                          </m:r>
                          <m:r>
                            <a:rPr lang="en-US"/>
                            <m:t> </m:t>
                          </m:r>
                          <m:d>
                            <m:dPr>
                              <m:begChr m:val="["/>
                              <m:endChr m:val="]"/>
                              <m:ctrlPr>
                                <a:rPr lang="en-IN" i="1"/>
                              </m:ctrlPr>
                            </m:dPr>
                            <m:e>
                              <m:r>
                                <a:rPr lang="en-US"/>
                                <m:t>|</m:t>
                              </m:r>
                              <m:sSub>
                                <m:sSubPr>
                                  <m:ctrlPr>
                                    <a:rPr lang="en-IN" i="1"/>
                                  </m:ctrlPr>
                                </m:sSubPr>
                                <m:e>
                                  <m:r>
                                    <a:rPr lang="en-US" i="1"/>
                                    <m:t>𝒳</m:t>
                                  </m:r>
                                </m:e>
                                <m:sub>
                                  <m:r>
                                    <a:rPr lang="en-US" i="1"/>
                                    <m:t>𝑇</m:t>
                                  </m:r>
                                </m:sub>
                              </m:sSub>
                              <m:r>
                                <a:rPr lang="en-US"/>
                                <m:t>(</m:t>
                              </m:r>
                              <m:r>
                                <a:rPr lang="en-US" i="1"/>
                                <m:t>𝑓</m:t>
                              </m:r>
                              <m:r>
                                <a:rPr lang="en-US"/>
                                <m:t>)</m:t>
                              </m:r>
                              <m:sSup>
                                <m:sSupPr>
                                  <m:ctrlPr>
                                    <a:rPr lang="en-IN" i="1"/>
                                  </m:ctrlPr>
                                </m:sSupPr>
                                <m:e>
                                  <m:r>
                                    <a:rPr lang="en-US"/>
                                    <m:t>|</m:t>
                                  </m:r>
                                </m:e>
                                <m:sup>
                                  <m:r>
                                    <a:rPr lang="en-US"/>
                                    <m:t>2</m:t>
                                  </m:r>
                                </m:sup>
                              </m:sSup>
                            </m:e>
                          </m:d>
                        </m:num>
                        <m:den>
                          <m:r>
                            <a:rPr lang="en-US" i="1"/>
                            <m:t>𝑇</m:t>
                          </m:r>
                        </m:den>
                      </m:f>
                    </m:oMath>
                  </m:oMathPara>
                </a14:m>
                <a:endParaRPr lang="en-IN" dirty="0"/>
              </a:p>
              <a:p>
                <a:endParaRPr lang="en-US" dirty="0"/>
              </a:p>
              <a:p>
                <a:r>
                  <a:rPr lang="en-US" dirty="0"/>
                  <a:t>Since </a:t>
                </a:r>
                <a14:m>
                  <m:oMath xmlns:m="http://schemas.openxmlformats.org/officeDocument/2006/math">
                    <m:r>
                      <a:rPr lang="en-US"/>
                      <m:t>|</m:t>
                    </m:r>
                    <m:sSub>
                      <m:sSubPr>
                        <m:ctrlPr>
                          <a:rPr lang="en-IN" i="1"/>
                        </m:ctrlPr>
                      </m:sSubPr>
                      <m:e>
                        <m:r>
                          <a:rPr lang="en-US" i="1"/>
                          <m:t>𝒳</m:t>
                        </m:r>
                      </m:e>
                      <m:sub>
                        <m:r>
                          <a:rPr lang="en-US" i="1"/>
                          <m:t>𝑇</m:t>
                        </m:r>
                      </m:sub>
                    </m:sSub>
                    <m:r>
                      <a:rPr lang="en-US"/>
                      <m:t>(</m:t>
                    </m:r>
                    <m:r>
                      <a:rPr lang="en-US" i="1"/>
                      <m:t>𝑓</m:t>
                    </m:r>
                    <m:r>
                      <a:rPr lang="en-US"/>
                      <m:t>)</m:t>
                    </m:r>
                    <m:sSup>
                      <m:sSupPr>
                        <m:ctrlPr>
                          <a:rPr lang="en-IN" i="1"/>
                        </m:ctrlPr>
                      </m:sSupPr>
                      <m:e>
                        <m:r>
                          <a:rPr lang="en-US"/>
                          <m:t>|</m:t>
                        </m:r>
                      </m:e>
                      <m:sup>
                        <m:r>
                          <a:rPr lang="en-US"/>
                          <m:t>2</m:t>
                        </m:r>
                      </m:sup>
                    </m:sSup>
                    <m:r>
                      <a:rPr lang="en-US"/>
                      <m:t>≥</m:t>
                    </m:r>
                    <m:r>
                      <a:rPr lang="en-US"/>
                      <m:t>0</m:t>
                    </m:r>
                  </m:oMath>
                </a14:m>
                <a:r>
                  <a:rPr lang="en-US" dirty="0"/>
                  <a:t> (magnitude squared is always non-negative), and the expectation </a:t>
                </a:r>
                <a14:m>
                  <m:oMath xmlns:m="http://schemas.openxmlformats.org/officeDocument/2006/math">
                    <m:r>
                      <a:rPr lang="en-US" i="1"/>
                      <m:t>𝐸</m:t>
                    </m:r>
                    <m:r>
                      <a:rPr lang="en-US"/>
                      <m:t>[⋅]</m:t>
                    </m:r>
                  </m:oMath>
                </a14:m>
                <a:r>
                  <a:rPr lang="en-US" dirty="0"/>
                  <a:t> and limit preserve non-negativity:</a:t>
                </a:r>
                <a:endParaRPr lang="en-IN" dirty="0"/>
              </a:p>
              <a:p>
                <a14:m>
                  <m:oMathPara xmlns:m="http://schemas.openxmlformats.org/officeDocument/2006/math">
                    <m:oMathParaPr>
                      <m:jc m:val="centerGroup"/>
                    </m:oMathParaPr>
                    <m:oMath xmlns:m="http://schemas.openxmlformats.org/officeDocument/2006/math">
                      <m:borderBox>
                        <m:borderBoxPr>
                          <m:hideTop m:val="on"/>
                          <m:hideBot m:val="on"/>
                          <m:hideLeft m:val="on"/>
                          <m:hideRight m:val="on"/>
                          <m:ctrlPr>
                            <a:rPr lang="en-IN" i="1"/>
                          </m:ctrlPr>
                        </m:borderBoxPr>
                        <m:e>
                          <m:sSub>
                            <m:sSubPr>
                              <m:ctrlPr>
                                <a:rPr lang="en-IN" i="1"/>
                              </m:ctrlPr>
                            </m:sSubPr>
                            <m:e>
                              <m:r>
                                <a:rPr lang="en-US" i="1"/>
                                <m:t>𝑆</m:t>
                              </m:r>
                            </m:e>
                            <m:sub>
                              <m:r>
                                <a:rPr lang="en-US" i="1"/>
                                <m:t>𝑋</m:t>
                              </m:r>
                            </m:sub>
                          </m:sSub>
                          <m:r>
                            <a:rPr lang="en-US"/>
                            <m:t>(</m:t>
                          </m:r>
                          <m:r>
                            <a:rPr lang="en-US" i="1"/>
                            <m:t>𝑓</m:t>
                          </m:r>
                          <m:r>
                            <a:rPr lang="en-US"/>
                            <m:t>)≥</m:t>
                          </m:r>
                          <m:r>
                            <a:rPr lang="en-US"/>
                            <m:t>0</m:t>
                          </m:r>
                          <m:r>
                            <a:rPr lang="en-US"/>
                            <m:t> ∀ </m:t>
                          </m:r>
                          <m:r>
                            <a:rPr lang="en-US" i="1"/>
                            <m:t>𝑓</m:t>
                          </m:r>
                          <m:r>
                            <a:rPr lang="en-US"/>
                            <m:t>∈</m:t>
                          </m:r>
                          <m:r>
                            <a:rPr lang="en-US" i="1"/>
                            <m:t>ℝ</m:t>
                          </m:r>
                        </m:e>
                      </m:borderBox>
                    </m:oMath>
                  </m:oMathPara>
                </a14:m>
                <a:endParaRPr lang="en-IN" dirty="0"/>
              </a:p>
              <a:p>
                <a:pPr>
                  <a:lnSpc>
                    <a:spcPct val="150000"/>
                  </a:lnSpc>
                  <a:spcAft>
                    <a:spcPts val="1050"/>
                  </a:spcAft>
                  <a:buNone/>
                </a:pPr>
                <a:r>
                  <a:rPr lang="en-US" sz="1800" dirty="0">
                    <a:solidFill>
                      <a:srgbClr val="000000"/>
                    </a:solidFill>
                    <a:effectLst/>
                    <a:latin typeface="Georgia" panose="02040502050405020303" pitchFamily="18" charset="0"/>
                    <a:ea typeface="Georgia" panose="02040502050405020303" pitchFamily="18" charset="0"/>
                    <a:cs typeface="Georgia" panose="02040502050405020303" pitchFamily="18" charset="0"/>
                  </a:rPr>
                  <a:t>Let </a:t>
                </a:r>
                <a14:m>
                  <m:oMath xmlns:m="http://schemas.openxmlformats.org/officeDocument/2006/math">
                    <m:sSub>
                      <m:sSub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𝑋</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𝑇</m:t>
                        </m:r>
                      </m:sub>
                    </m:sSub>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𝑡</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𝑋</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𝑡</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m:rPr>
                        <m:sty m:val="p"/>
                      </m:rP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rect</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𝑡</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𝑇</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oMath>
                </a14:m>
                <a:r>
                  <a:rPr lang="en-US" sz="1800" dirty="0">
                    <a:solidFill>
                      <a:srgbClr val="000000"/>
                    </a:solidFill>
                    <a:effectLst/>
                    <a:latin typeface="Georgia" panose="02040502050405020303" pitchFamily="18" charset="0"/>
                    <a:ea typeface="Georgia" panose="02040502050405020303" pitchFamily="18" charset="0"/>
                    <a:cs typeface="Georgia" panose="02040502050405020303" pitchFamily="18" charset="0"/>
                  </a:rPr>
                  <a:t> be the time-windowed version of the process, with Fourier transform </a:t>
                </a:r>
                <a14:m>
                  <m:oMath xmlns:m="http://schemas.openxmlformats.org/officeDocument/2006/math">
                    <m:sSub>
                      <m:sSub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𝒳</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𝑇</m:t>
                        </m:r>
                      </m:sub>
                    </m:sSub>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oMath>
                </a14:m>
                <a:r>
                  <a:rPr lang="en-US" sz="1800" dirty="0">
                    <a:solidFill>
                      <a:srgbClr val="000000"/>
                    </a:solidFill>
                    <a:effectLst/>
                    <a:latin typeface="Georgia" panose="02040502050405020303" pitchFamily="18" charset="0"/>
                    <a:ea typeface="Georgia" panose="02040502050405020303" pitchFamily="18" charset="0"/>
                    <a:cs typeface="Georgia" panose="02040502050405020303" pitchFamily="18" charset="0"/>
                  </a:rPr>
                  <a:t>. By definition:</a:t>
                </a:r>
                <a:endParaRPr lang="en-IN" sz="2800" dirty="0">
                  <a:effectLst/>
                  <a:latin typeface="Georgia" panose="02040502050405020303" pitchFamily="18" charset="0"/>
                  <a:ea typeface="Calibri" panose="020F0502020204030204" pitchFamily="34" charset="0"/>
                  <a:cs typeface="Mangal" panose="02040503050203030202" pitchFamily="18" charset="0"/>
                </a:endParaRPr>
              </a:p>
              <a:p>
                <a:pPr>
                  <a:lnSpc>
                    <a:spcPct val="150000"/>
                  </a:lnSpc>
                  <a:spcAft>
                    <a:spcPts val="1050"/>
                  </a:spcAft>
                  <a:buNone/>
                </a:pPr>
                <a14:m>
                  <m:oMathPara xmlns:m="http://schemas.openxmlformats.org/officeDocument/2006/math">
                    <m:oMathParaPr>
                      <m:jc m:val="centerGroup"/>
                    </m:oMathParaPr>
                    <m:oMath xmlns:m="http://schemas.openxmlformats.org/officeDocument/2006/math">
                      <m:sSub>
                        <m:sSub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𝑆</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𝑋</m:t>
                          </m:r>
                        </m:sub>
                      </m:sSub>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limLow>
                        <m:limLow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limLowPr>
                        <m:e>
                          <m:r>
                            <m:rPr>
                              <m:sty m:val="p"/>
                            </m:rP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lim</m:t>
                          </m:r>
                        </m:e>
                        <m:lim>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𝑇</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lim>
                      </m:limLow>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 </m:t>
                      </m:r>
                      <m:f>
                        <m:f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𝐸</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 </m:t>
                          </m:r>
                          <m:d>
                            <m:dPr>
                              <m:begChr m:val="["/>
                              <m:endChr m:val="]"/>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dPr>
                            <m:e>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sSub>
                                <m:sSub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𝒳</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𝑇</m:t>
                                  </m:r>
                                </m:sub>
                              </m:sSub>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sSup>
                                <m:sSup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pPr>
                                <m:e>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e>
                                <m:sup>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2</m:t>
                                  </m:r>
                                </m:sup>
                              </m:sSup>
                            </m:e>
                          </m:d>
                        </m:num>
                        <m:den>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𝑇</m:t>
                          </m:r>
                        </m:den>
                      </m:f>
                    </m:oMath>
                  </m:oMathPara>
                </a14:m>
                <a:endParaRPr lang="en-IN" sz="2800" dirty="0">
                  <a:effectLst/>
                  <a:latin typeface="Georgia" panose="02040502050405020303" pitchFamily="18" charset="0"/>
                  <a:ea typeface="Calibri" panose="020F0502020204030204" pitchFamily="34" charset="0"/>
                  <a:cs typeface="Mangal" panose="02040503050203030202" pitchFamily="18" charset="0"/>
                </a:endParaRPr>
              </a:p>
              <a:p>
                <a:pPr>
                  <a:lnSpc>
                    <a:spcPct val="150000"/>
                  </a:lnSpc>
                  <a:spcAft>
                    <a:spcPts val="1050"/>
                  </a:spcAft>
                  <a:buNone/>
                </a:pPr>
                <a:r>
                  <a:rPr lang="en-US" sz="1800" dirty="0">
                    <a:solidFill>
                      <a:srgbClr val="000000"/>
                    </a:solidFill>
                    <a:effectLst/>
                    <a:latin typeface="Georgia" panose="02040502050405020303" pitchFamily="18" charset="0"/>
                    <a:ea typeface="Georgia" panose="02040502050405020303" pitchFamily="18" charset="0"/>
                    <a:cs typeface="Georgia" panose="02040502050405020303" pitchFamily="18" charset="0"/>
                  </a:rPr>
                  <a:t>Since </a:t>
                </a:r>
                <a14:m>
                  <m:oMath xmlns:m="http://schemas.openxmlformats.org/officeDocument/2006/math">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sSub>
                      <m:sSub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𝒳</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𝑇</m:t>
                        </m:r>
                      </m:sub>
                    </m:sSub>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sSup>
                      <m:sSup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pPr>
                      <m:e>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e>
                      <m:sup>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2</m:t>
                        </m:r>
                      </m:sup>
                    </m:sSup>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0</m:t>
                    </m:r>
                  </m:oMath>
                </a14:m>
                <a:r>
                  <a:rPr lang="en-US" sz="1800" dirty="0">
                    <a:solidFill>
                      <a:srgbClr val="000000"/>
                    </a:solidFill>
                    <a:effectLst/>
                    <a:latin typeface="Georgia" panose="02040502050405020303" pitchFamily="18" charset="0"/>
                    <a:ea typeface="Georgia" panose="02040502050405020303" pitchFamily="18" charset="0"/>
                    <a:cs typeface="Georgia" panose="02040502050405020303" pitchFamily="18" charset="0"/>
                  </a:rPr>
                  <a:t> (magnitude squared is always non-negative), and the expectation </a:t>
                </a:r>
                <a14:m>
                  <m:oMath xmlns:m="http://schemas.openxmlformats.org/officeDocument/2006/math">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𝐸</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oMath>
                </a14:m>
                <a:r>
                  <a:rPr lang="en-US" sz="1800" dirty="0">
                    <a:solidFill>
                      <a:srgbClr val="000000"/>
                    </a:solidFill>
                    <a:effectLst/>
                    <a:latin typeface="Georgia" panose="02040502050405020303" pitchFamily="18" charset="0"/>
                    <a:ea typeface="Georgia" panose="02040502050405020303" pitchFamily="18" charset="0"/>
                    <a:cs typeface="Georgia" panose="02040502050405020303" pitchFamily="18" charset="0"/>
                  </a:rPr>
                  <a:t> and limit preserve non-negativity:</a:t>
                </a:r>
                <a:endParaRPr lang="en-IN" sz="2800" dirty="0">
                  <a:effectLst/>
                  <a:latin typeface="Georgia" panose="02040502050405020303" pitchFamily="18" charset="0"/>
                  <a:ea typeface="Calibri" panose="020F0502020204030204" pitchFamily="34" charset="0"/>
                  <a:cs typeface="Mangal" panose="02040503050203030202" pitchFamily="18" charset="0"/>
                </a:endParaRPr>
              </a:p>
              <a:p>
                <a:pPr>
                  <a:lnSpc>
                    <a:spcPct val="150000"/>
                  </a:lnSpc>
                  <a:spcAft>
                    <a:spcPts val="1050"/>
                  </a:spcAft>
                  <a:buNone/>
                </a:pPr>
                <a14:m>
                  <m:oMathPara xmlns:m="http://schemas.openxmlformats.org/officeDocument/2006/math">
                    <m:oMathParaPr>
                      <m:jc m:val="centerGroup"/>
                    </m:oMathParaPr>
                    <m:oMath xmlns:m="http://schemas.openxmlformats.org/officeDocument/2006/math">
                      <m:borderBox>
                        <m:borderBoxPr>
                          <m:hideTop m:val="on"/>
                          <m:hideBot m:val="on"/>
                          <m:hideLeft m:val="on"/>
                          <m:hideRight m:val="on"/>
                          <m:ctrlPr>
                            <a:rPr lang="en-IN" sz="1800" i="1">
                              <a:effectLst/>
                              <a:latin typeface="Cambria Math" panose="02040503050406030204" pitchFamily="18" charset="0"/>
                              <a:ea typeface="Calibri" panose="020F0502020204030204" pitchFamily="34" charset="0"/>
                              <a:cs typeface="Mangal" panose="02040503050203030202" pitchFamily="18" charset="0"/>
                            </a:rPr>
                          </m:ctrlPr>
                        </m:borderBoxPr>
                        <m:e>
                          <m:sSub>
                            <m:sSub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𝑆</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𝑋</m:t>
                              </m:r>
                            </m:sub>
                          </m:sSub>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0</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 ∀ </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ℝ</m:t>
                          </m:r>
                        </m:e>
                      </m:borderBox>
                    </m:oMath>
                  </m:oMathPara>
                </a14:m>
                <a:endParaRPr lang="en-IN" sz="2800" dirty="0">
                  <a:effectLst/>
                  <a:latin typeface="Georgia" panose="02040502050405020303" pitchFamily="18" charset="0"/>
                  <a:ea typeface="Calibri" panose="020F0502020204030204" pitchFamily="34" charset="0"/>
                  <a:cs typeface="Mangal" panose="02040503050203030202" pitchFamily="18" charset="0"/>
                </a:endParaRPr>
              </a:p>
            </p:txBody>
          </p:sp>
        </mc:Choice>
        <mc:Fallback>
          <p:sp>
            <p:nvSpPr>
              <p:cNvPr id="23" name="TextBox 22">
                <a:extLst>
                  <a:ext uri="{FF2B5EF4-FFF2-40B4-BE49-F238E27FC236}">
                    <a16:creationId xmlns:a16="http://schemas.microsoft.com/office/drawing/2014/main" id="{EC555B3E-42F1-2287-0A6D-14974881DE70}"/>
                  </a:ext>
                </a:extLst>
              </p:cNvPr>
              <p:cNvSpPr txBox="1">
                <a:spLocks noRot="1" noChangeAspect="1" noMove="1" noResize="1" noEditPoints="1" noAdjustHandles="1" noChangeArrowheads="1" noChangeShapeType="1" noTextEdit="1"/>
              </p:cNvSpPr>
              <p:nvPr/>
            </p:nvSpPr>
            <p:spPr>
              <a:xfrm>
                <a:off x="350745" y="973394"/>
                <a:ext cx="10808867" cy="5781070"/>
              </a:xfrm>
              <a:prstGeom prst="rect">
                <a:avLst/>
              </a:prstGeom>
              <a:blipFill>
                <a:blip r:embed="rId2"/>
                <a:stretch>
                  <a:fillRect l="-508" t="-527" r="-790"/>
                </a:stretch>
              </a:blipFill>
            </p:spPr>
            <p:txBody>
              <a:bodyPr/>
              <a:lstStyle/>
              <a:p>
                <a:r>
                  <a:rPr lang="en-IN">
                    <a:noFill/>
                  </a:rPr>
                  <a:t> </a:t>
                </a:r>
              </a:p>
            </p:txBody>
          </p:sp>
        </mc:Fallback>
      </mc:AlternateContent>
      <p:pic>
        <p:nvPicPr>
          <p:cNvPr id="33" name="Picture 32">
            <a:extLst>
              <a:ext uri="{FF2B5EF4-FFF2-40B4-BE49-F238E27FC236}">
                <a16:creationId xmlns:a16="http://schemas.microsoft.com/office/drawing/2014/main" id="{72F31852-F64A-4211-E671-BDC70DB39C8B}"/>
              </a:ext>
            </a:extLst>
          </p:cNvPr>
          <p:cNvPicPr>
            <a:picLocks noChangeAspect="1"/>
          </p:cNvPicPr>
          <p:nvPr/>
        </p:nvPicPr>
        <p:blipFill>
          <a:blip r:embed="rId3"/>
          <a:stretch>
            <a:fillRect/>
          </a:stretch>
        </p:blipFill>
        <p:spPr>
          <a:xfrm>
            <a:off x="963561" y="3682477"/>
            <a:ext cx="10285147" cy="23081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7484" y="120781"/>
            <a:ext cx="11450269" cy="584775"/>
          </a:xfrm>
          <a:prstGeom prst="rect">
            <a:avLst/>
          </a:prstGeom>
          <a:noFill/>
        </p:spPr>
        <p:txBody>
          <a:bodyPr wrap="square">
            <a:spAutoFit/>
          </a:bodyPr>
          <a:lstStyle/>
          <a:p>
            <a:pPr algn="l"/>
            <a:r>
              <a:rPr sz="3200" dirty="0">
                <a:solidFill>
                  <a:srgbClr val="FFFFFF"/>
                </a:solidFill>
              </a:rPr>
              <a:t>MATLAB C</a:t>
            </a:r>
            <a:r>
              <a:rPr lang="en-IN" sz="3200" dirty="0">
                <a:solidFill>
                  <a:srgbClr val="FFFFFF"/>
                </a:solidFill>
              </a:rPr>
              <a:t>ODE</a:t>
            </a:r>
            <a:r>
              <a:rPr sz="3200" dirty="0">
                <a:solidFill>
                  <a:srgbClr val="FFFFFF"/>
                </a:solidFill>
              </a:rPr>
              <a:t> </a:t>
            </a:r>
            <a:r>
              <a:rPr lang="en-IN" sz="3200" dirty="0">
                <a:solidFill>
                  <a:srgbClr val="FFFFFF"/>
                </a:solidFill>
              </a:rPr>
              <a:t>FOR EVEN SYMMETRY CHECK</a:t>
            </a:r>
            <a:endParaRPr sz="3200" dirty="0">
              <a:solidFill>
                <a:srgbClr val="FFFFFF"/>
              </a:solidFill>
            </a:endParaRPr>
          </a:p>
        </p:txBody>
      </p:sp>
      <p:sp>
        <p:nvSpPr>
          <p:cNvPr id="4" name="Rectangle 3"/>
          <p:cNvSpPr/>
          <p:nvPr/>
        </p:nvSpPr>
        <p:spPr>
          <a:xfrm>
            <a:off x="1588" y="6629400"/>
            <a:ext cx="12188952"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5908" y="6675120"/>
            <a:ext cx="10972800" cy="215444"/>
          </a:xfrm>
          <a:prstGeom prst="rect">
            <a:avLst/>
          </a:prstGeom>
          <a:noFill/>
        </p:spPr>
        <p:txBody>
          <a:bodyPr wrap="square">
            <a:spAutoFit/>
          </a:bodyPr>
          <a:lstStyle/>
          <a:p>
            <a:pPr algn="l"/>
            <a:r>
              <a:rPr sz="800">
                <a:solidFill>
                  <a:srgbClr val="666666"/>
                </a:solidFill>
              </a:rPr>
              <a:t>Audio Noise Cancellation using Wiener Filter  |  Surya Singh  |  VIT Vellore</a:t>
            </a:r>
          </a:p>
        </p:txBody>
      </p:sp>
      <p:sp>
        <p:nvSpPr>
          <p:cNvPr id="6" name="TextBox 5"/>
          <p:cNvSpPr txBox="1"/>
          <p:nvPr/>
        </p:nvSpPr>
        <p:spPr>
          <a:xfrm>
            <a:off x="11797348" y="6492240"/>
            <a:ext cx="365760" cy="230832"/>
          </a:xfrm>
          <a:prstGeom prst="rect">
            <a:avLst/>
          </a:prstGeom>
          <a:noFill/>
        </p:spPr>
        <p:txBody>
          <a:bodyPr wrap="square">
            <a:spAutoFit/>
          </a:bodyPr>
          <a:lstStyle/>
          <a:p>
            <a:pPr algn="r"/>
            <a:r>
              <a:rPr sz="900">
                <a:solidFill>
                  <a:srgbClr val="666666"/>
                </a:solidFill>
              </a:rPr>
              <a:t>7</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355738E3-01EA-85CC-CEB1-26BD6FF5987F}"/>
                  </a:ext>
                </a:extLst>
              </p:cNvPr>
              <p:cNvSpPr txBox="1"/>
              <p:nvPr/>
            </p:nvSpPr>
            <p:spPr>
              <a:xfrm>
                <a:off x="275908" y="1061884"/>
                <a:ext cx="10019070" cy="3225307"/>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nor/>
                        </m:rPr>
                        <a:rPr lang="en-US" smtClean="0"/>
                        <m:t>Since</m:t>
                      </m:r>
                      <m:r>
                        <m:rPr>
                          <m:nor/>
                        </m:rPr>
                        <a:rPr lang="en-US" smtClean="0"/>
                        <m:t> </m:t>
                      </m:r>
                      <m:r>
                        <a:rPr lang="en-US" i="1"/>
                        <m:t>𝑋</m:t>
                      </m:r>
                      <m:r>
                        <a:rPr lang="en-US"/>
                        <m:t>(</m:t>
                      </m:r>
                      <m:r>
                        <a:rPr lang="en-US" i="1"/>
                        <m:t>𝑡</m:t>
                      </m:r>
                      <m:r>
                        <a:rPr lang="en-US"/>
                        <m:t>)</m:t>
                      </m:r>
                      <m:r>
                        <m:rPr>
                          <m:nor/>
                        </m:rPr>
                        <a:rPr lang="en-US"/>
                        <m:t> </m:t>
                      </m:r>
                      <m:r>
                        <m:rPr>
                          <m:nor/>
                        </m:rPr>
                        <a:rPr lang="en-US"/>
                        <m:t>is</m:t>
                      </m:r>
                      <m:r>
                        <m:rPr>
                          <m:nor/>
                        </m:rPr>
                        <a:rPr lang="en-US"/>
                        <m:t> </m:t>
                      </m:r>
                      <m:r>
                        <m:rPr>
                          <m:nor/>
                        </m:rPr>
                        <a:rPr lang="en-US"/>
                        <m:t>real</m:t>
                      </m:r>
                      <m:r>
                        <m:rPr>
                          <m:nor/>
                        </m:rPr>
                        <a:rPr lang="en-US"/>
                        <m:t>-</m:t>
                      </m:r>
                      <m:r>
                        <m:rPr>
                          <m:nor/>
                        </m:rPr>
                        <a:rPr lang="en-US"/>
                        <m:t>valued</m:t>
                      </m:r>
                      <m:r>
                        <m:rPr>
                          <m:nor/>
                        </m:rPr>
                        <a:rPr lang="en-US"/>
                        <m:t> </m:t>
                      </m:r>
                      <m:r>
                        <m:rPr>
                          <m:nor/>
                        </m:rPr>
                        <a:rPr lang="en-US"/>
                        <m:t>and</m:t>
                      </m:r>
                      <m:r>
                        <m:rPr>
                          <m:nor/>
                        </m:rPr>
                        <a:rPr lang="en-US"/>
                        <m:t> </m:t>
                      </m:r>
                      <m:r>
                        <m:rPr>
                          <m:nor/>
                        </m:rPr>
                        <a:rPr lang="en-US"/>
                        <m:t>WSS</m:t>
                      </m:r>
                      <m:r>
                        <m:rPr>
                          <m:nor/>
                        </m:rPr>
                        <a:rPr lang="en-US"/>
                        <m:t>, </m:t>
                      </m:r>
                      <m:sSub>
                        <m:sSubPr>
                          <m:ctrlPr>
                            <a:rPr lang="en-IN" i="1"/>
                          </m:ctrlPr>
                        </m:sSubPr>
                        <m:e>
                          <m:r>
                            <a:rPr lang="en-US" i="1"/>
                            <m:t>𝑅</m:t>
                          </m:r>
                        </m:e>
                        <m:sub>
                          <m:r>
                            <a:rPr lang="en-US" i="1"/>
                            <m:t>𝑋</m:t>
                          </m:r>
                        </m:sub>
                      </m:sSub>
                      <m:r>
                        <a:rPr lang="en-US"/>
                        <m:t>(</m:t>
                      </m:r>
                      <m:r>
                        <a:rPr lang="en-US" i="1"/>
                        <m:t>𝜏</m:t>
                      </m:r>
                      <m:r>
                        <a:rPr lang="en-US"/>
                        <m:t>)</m:t>
                      </m:r>
                      <m:r>
                        <m:rPr>
                          <m:nor/>
                        </m:rPr>
                        <a:rPr lang="en-US"/>
                        <m:t> </m:t>
                      </m:r>
                      <m:r>
                        <m:rPr>
                          <m:nor/>
                        </m:rPr>
                        <a:rPr lang="en-US"/>
                        <m:t>is</m:t>
                      </m:r>
                      <m:r>
                        <m:rPr>
                          <m:nor/>
                        </m:rPr>
                        <a:rPr lang="en-US"/>
                        <m:t> </m:t>
                      </m:r>
                      <m:r>
                        <m:rPr>
                          <m:nor/>
                        </m:rPr>
                        <a:rPr lang="en-US"/>
                        <m:t>a</m:t>
                      </m:r>
                      <m:r>
                        <m:rPr>
                          <m:nor/>
                        </m:rPr>
                        <a:rPr lang="en-US"/>
                        <m:t> </m:t>
                      </m:r>
                      <m:r>
                        <m:rPr>
                          <m:nor/>
                        </m:rPr>
                        <a:rPr lang="en-US"/>
                        <m:t>real</m:t>
                      </m:r>
                      <m:r>
                        <m:rPr>
                          <m:nor/>
                        </m:rPr>
                        <a:rPr lang="en-US"/>
                        <m:t> </m:t>
                      </m:r>
                      <m:r>
                        <m:rPr>
                          <m:nor/>
                        </m:rPr>
                        <a:rPr lang="en-US"/>
                        <m:t>and</m:t>
                      </m:r>
                      <m:r>
                        <m:rPr>
                          <m:nor/>
                        </m:rPr>
                        <a:rPr lang="en-US"/>
                        <m:t> </m:t>
                      </m:r>
                      <m:r>
                        <m:rPr>
                          <m:nor/>
                        </m:rPr>
                        <a:rPr lang="en-US"/>
                        <m:t>even</m:t>
                      </m:r>
                      <m:r>
                        <m:rPr>
                          <m:nor/>
                        </m:rPr>
                        <a:rPr lang="en-US"/>
                        <m:t> </m:t>
                      </m:r>
                      <m:r>
                        <m:rPr>
                          <m:nor/>
                        </m:rPr>
                        <a:rPr lang="en-US"/>
                        <m:t>function</m:t>
                      </m:r>
                      <m:r>
                        <m:rPr>
                          <m:nor/>
                        </m:rPr>
                        <a:rPr lang="en-US"/>
                        <m:t>: </m:t>
                      </m:r>
                      <m:sSub>
                        <m:sSubPr>
                          <m:ctrlPr>
                            <a:rPr lang="en-IN" i="1"/>
                          </m:ctrlPr>
                        </m:sSubPr>
                        <m:e>
                          <m:r>
                            <a:rPr lang="en-US" i="1"/>
                            <m:t>𝑅</m:t>
                          </m:r>
                        </m:e>
                        <m:sub>
                          <m:r>
                            <a:rPr lang="en-US" i="1"/>
                            <m:t>𝑋</m:t>
                          </m:r>
                        </m:sub>
                      </m:sSub>
                      <m:r>
                        <a:rPr lang="en-US"/>
                        <m:t>(−</m:t>
                      </m:r>
                      <m:r>
                        <a:rPr lang="en-US" i="1"/>
                        <m:t>𝜏</m:t>
                      </m:r>
                      <m:r>
                        <a:rPr lang="en-US"/>
                        <m:t>)=</m:t>
                      </m:r>
                      <m:sSub>
                        <m:sSubPr>
                          <m:ctrlPr>
                            <a:rPr lang="en-IN" i="1"/>
                          </m:ctrlPr>
                        </m:sSubPr>
                        <m:e>
                          <m:r>
                            <a:rPr lang="en-US" i="1"/>
                            <m:t>𝑅</m:t>
                          </m:r>
                        </m:e>
                        <m:sub>
                          <m:r>
                            <a:rPr lang="en-US" i="1"/>
                            <m:t>𝑋</m:t>
                          </m:r>
                        </m:sub>
                      </m:sSub>
                      <m:r>
                        <a:rPr lang="en-US"/>
                        <m:t>(</m:t>
                      </m:r>
                      <m:r>
                        <a:rPr lang="en-US" i="1"/>
                        <m:t>𝜏</m:t>
                      </m:r>
                      <m:r>
                        <a:rPr lang="en-US"/>
                        <m:t>)</m:t>
                      </m:r>
                      <m:r>
                        <m:rPr>
                          <m:nor/>
                        </m:rPr>
                        <a:rPr lang="en-US"/>
                        <m:t>. </m:t>
                      </m:r>
                      <m:r>
                        <m:rPr>
                          <m:nor/>
                        </m:rPr>
                        <a:rPr lang="en-US"/>
                        <m:t>Evaluate</m:t>
                      </m:r>
                      <m:r>
                        <m:rPr>
                          <m:nor/>
                        </m:rPr>
                        <a:rPr lang="en-US"/>
                        <m:t> </m:t>
                      </m:r>
                      <m:sSub>
                        <m:sSubPr>
                          <m:ctrlPr>
                            <a:rPr lang="en-IN" i="1"/>
                          </m:ctrlPr>
                        </m:sSubPr>
                        <m:e>
                          <m:r>
                            <a:rPr lang="en-US" i="1"/>
                            <m:t>𝑆</m:t>
                          </m:r>
                        </m:e>
                        <m:sub>
                          <m:r>
                            <a:rPr lang="en-US" i="1"/>
                            <m:t>𝑋</m:t>
                          </m:r>
                        </m:sub>
                      </m:sSub>
                      <m:r>
                        <a:rPr lang="en-US"/>
                        <m:t>(−</m:t>
                      </m:r>
                      <m:r>
                        <a:rPr lang="en-US" i="1"/>
                        <m:t>𝑓</m:t>
                      </m:r>
                      <m:r>
                        <a:rPr lang="en-US"/>
                        <m:t>)</m:t>
                      </m:r>
                      <m:r>
                        <m:rPr>
                          <m:nor/>
                        </m:rPr>
                        <a:rPr lang="en-US"/>
                        <m:t>:</m:t>
                      </m:r>
                    </m:oMath>
                  </m:oMathPara>
                </a14:m>
                <a:endParaRPr lang="en-IN" dirty="0"/>
              </a:p>
              <a:p>
                <a:endParaRPr lang="en-IN" dirty="0"/>
              </a:p>
              <a:p>
                <a14:m>
                  <m:oMathPara xmlns:m="http://schemas.openxmlformats.org/officeDocument/2006/math">
                    <m:oMathParaPr>
                      <m:jc m:val="centerGroup"/>
                    </m:oMathParaPr>
                    <m:oMath xmlns:m="http://schemas.openxmlformats.org/officeDocument/2006/math">
                      <m:sSub>
                        <m:sSubPr>
                          <m:ctrlPr>
                            <a:rPr lang="en-IN" i="1"/>
                          </m:ctrlPr>
                        </m:sSubPr>
                        <m:e>
                          <m:r>
                            <a:rPr lang="en-US" i="1"/>
                            <m:t>𝑆</m:t>
                          </m:r>
                        </m:e>
                        <m:sub>
                          <m:r>
                            <a:rPr lang="en-US" i="1"/>
                            <m:t>𝑋</m:t>
                          </m:r>
                        </m:sub>
                      </m:sSub>
                      <m:r>
                        <a:rPr lang="en-US"/>
                        <m:t>(−</m:t>
                      </m:r>
                      <m:r>
                        <a:rPr lang="en-US" i="1"/>
                        <m:t>𝑓</m:t>
                      </m:r>
                      <m:r>
                        <a:rPr lang="en-US"/>
                        <m:t>)=</m:t>
                      </m:r>
                      <m:nary>
                        <m:naryPr>
                          <m:limLoc m:val="subSup"/>
                          <m:grow m:val="on"/>
                          <m:ctrlPr>
                            <a:rPr lang="en-IN" i="1"/>
                          </m:ctrlPr>
                        </m:naryPr>
                        <m:sub>
                          <m:r>
                            <a:rPr lang="en-US"/>
                            <m:t>−</m:t>
                          </m:r>
                          <m:r>
                            <a:rPr lang="en-US"/>
                            <m:t>∞</m:t>
                          </m:r>
                        </m:sub>
                        <m:sup>
                          <m:r>
                            <a:rPr lang="en-US"/>
                            <m:t>∞</m:t>
                          </m:r>
                        </m:sup>
                        <m:e>
                          <m:r>
                            <a:rPr lang="en-US"/>
                            <m:t> </m:t>
                          </m:r>
                        </m:e>
                      </m:nary>
                      <m:sSub>
                        <m:sSubPr>
                          <m:ctrlPr>
                            <a:rPr lang="en-IN" i="1"/>
                          </m:ctrlPr>
                        </m:sSubPr>
                        <m:e>
                          <m:r>
                            <a:rPr lang="en-US" i="1"/>
                            <m:t>𝑅</m:t>
                          </m:r>
                        </m:e>
                        <m:sub>
                          <m:r>
                            <a:rPr lang="en-US" i="1"/>
                            <m:t>𝑋</m:t>
                          </m:r>
                        </m:sub>
                      </m:sSub>
                      <m:r>
                        <a:rPr lang="en-US"/>
                        <m:t>(</m:t>
                      </m:r>
                      <m:r>
                        <a:rPr lang="en-US" i="1"/>
                        <m:t>𝜏</m:t>
                      </m:r>
                      <m:r>
                        <a:rPr lang="en-US"/>
                        <m:t>) </m:t>
                      </m:r>
                      <m:sSup>
                        <m:sSupPr>
                          <m:ctrlPr>
                            <a:rPr lang="en-IN" i="1"/>
                          </m:ctrlPr>
                        </m:sSupPr>
                        <m:e>
                          <m:r>
                            <a:rPr lang="en-US" i="1"/>
                            <m:t>𝑒</m:t>
                          </m:r>
                        </m:e>
                        <m:sup>
                          <m:r>
                            <a:rPr lang="en-US"/>
                            <m:t>+</m:t>
                          </m:r>
                          <m:r>
                            <a:rPr lang="en-US" i="1"/>
                            <m:t>𝑗</m:t>
                          </m:r>
                          <m:r>
                            <a:rPr lang="en-US"/>
                            <m:t>2</m:t>
                          </m:r>
                          <m:r>
                            <a:rPr lang="en-US" i="1"/>
                            <m:t>𝜋</m:t>
                          </m:r>
                          <m:r>
                            <a:rPr lang="en-US" i="1"/>
                            <m:t>𝑓</m:t>
                          </m:r>
                          <m:r>
                            <a:rPr lang="en-US" i="1"/>
                            <m:t>𝜏</m:t>
                          </m:r>
                        </m:sup>
                      </m:sSup>
                      <m:r>
                        <a:rPr lang="en-US"/>
                        <m:t> </m:t>
                      </m:r>
                      <m:r>
                        <a:rPr lang="en-US" i="1"/>
                        <m:t>𝑑</m:t>
                      </m:r>
                      <m:r>
                        <a:rPr lang="en-US" i="1"/>
                        <m:t>𝜏</m:t>
                      </m:r>
                      <m:r>
                        <a:rPr lang="en-US"/>
                        <m:t>=</m:t>
                      </m:r>
                      <m:sSup>
                        <m:sSupPr>
                          <m:ctrlPr>
                            <a:rPr lang="en-IN" i="1"/>
                          </m:ctrlPr>
                        </m:sSupPr>
                        <m:e>
                          <m:d>
                            <m:dPr>
                              <m:begChr m:val="["/>
                              <m:endChr m:val="]"/>
                              <m:ctrlPr>
                                <a:rPr lang="en-IN" i="1"/>
                              </m:ctrlPr>
                            </m:dPr>
                            <m:e>
                              <m:nary>
                                <m:naryPr>
                                  <m:limLoc m:val="subSup"/>
                                  <m:grow m:val="on"/>
                                  <m:ctrlPr>
                                    <a:rPr lang="en-IN" i="1"/>
                                  </m:ctrlPr>
                                </m:naryPr>
                                <m:sub>
                                  <m:r>
                                    <a:rPr lang="en-US"/>
                                    <m:t>−</m:t>
                                  </m:r>
                                  <m:r>
                                    <a:rPr lang="en-US"/>
                                    <m:t>∞</m:t>
                                  </m:r>
                                </m:sub>
                                <m:sup>
                                  <m:r>
                                    <a:rPr lang="en-US"/>
                                    <m:t>∞</m:t>
                                  </m:r>
                                </m:sup>
                                <m:e>
                                  <m:r>
                                    <a:rPr lang="en-US"/>
                                    <m:t> </m:t>
                                  </m:r>
                                </m:e>
                              </m:nary>
                              <m:r>
                                <a:rPr lang="en-US"/>
                                <m:t> </m:t>
                              </m:r>
                              <m:sSub>
                                <m:sSubPr>
                                  <m:ctrlPr>
                                    <a:rPr lang="en-IN" i="1"/>
                                  </m:ctrlPr>
                                </m:sSubPr>
                                <m:e>
                                  <m:r>
                                    <a:rPr lang="en-US" i="1"/>
                                    <m:t>𝑅</m:t>
                                  </m:r>
                                </m:e>
                                <m:sub>
                                  <m:r>
                                    <a:rPr lang="en-US" i="1"/>
                                    <m:t>𝑋</m:t>
                                  </m:r>
                                </m:sub>
                              </m:sSub>
                              <m:r>
                                <a:rPr lang="en-US"/>
                                <m:t>(</m:t>
                              </m:r>
                              <m:r>
                                <a:rPr lang="en-US" i="1"/>
                                <m:t>𝜏</m:t>
                              </m:r>
                              <m:r>
                                <a:rPr lang="en-US"/>
                                <m:t>) </m:t>
                              </m:r>
                              <m:sSup>
                                <m:sSupPr>
                                  <m:ctrlPr>
                                    <a:rPr lang="en-IN" i="1"/>
                                  </m:ctrlPr>
                                </m:sSupPr>
                                <m:e>
                                  <m:r>
                                    <a:rPr lang="en-US" i="1"/>
                                    <m:t>𝑒</m:t>
                                  </m:r>
                                </m:e>
                                <m:sup>
                                  <m:r>
                                    <a:rPr lang="en-US"/>
                                    <m:t>−</m:t>
                                  </m:r>
                                  <m:r>
                                    <a:rPr lang="en-US" i="1"/>
                                    <m:t>𝑗</m:t>
                                  </m:r>
                                  <m:r>
                                    <a:rPr lang="en-US"/>
                                    <m:t>2</m:t>
                                  </m:r>
                                  <m:r>
                                    <a:rPr lang="en-US" i="1"/>
                                    <m:t>𝜋</m:t>
                                  </m:r>
                                  <m:r>
                                    <a:rPr lang="en-US" i="1"/>
                                    <m:t>𝑓</m:t>
                                  </m:r>
                                  <m:r>
                                    <a:rPr lang="en-US" i="1"/>
                                    <m:t>𝜏</m:t>
                                  </m:r>
                                </m:sup>
                              </m:sSup>
                              <m:r>
                                <a:rPr lang="en-US"/>
                                <m:t> </m:t>
                              </m:r>
                              <m:r>
                                <a:rPr lang="en-US" i="1"/>
                                <m:t>𝑑</m:t>
                              </m:r>
                              <m:r>
                                <a:rPr lang="en-US" i="1"/>
                                <m:t>𝜏</m:t>
                              </m:r>
                            </m:e>
                          </m:d>
                        </m:e>
                        <m:sup>
                          <m:r>
                            <a:rPr lang="en-US"/>
                            <m:t>∗</m:t>
                          </m:r>
                        </m:sup>
                      </m:sSup>
                      <m:r>
                        <a:rPr lang="en-US"/>
                        <m:t>=</m:t>
                      </m:r>
                      <m:sSubSup>
                        <m:sSubSupPr>
                          <m:ctrlPr>
                            <a:rPr lang="en-IN" i="1"/>
                          </m:ctrlPr>
                        </m:sSubSupPr>
                        <m:e>
                          <m:r>
                            <a:rPr lang="en-US" i="1"/>
                            <m:t>𝑆</m:t>
                          </m:r>
                        </m:e>
                        <m:sub>
                          <m:r>
                            <a:rPr lang="en-US" i="1"/>
                            <m:t>𝑋</m:t>
                          </m:r>
                        </m:sub>
                        <m:sup>
                          <m:r>
                            <a:rPr lang="en-US"/>
                            <m:t>∗</m:t>
                          </m:r>
                        </m:sup>
                      </m:sSubSup>
                      <m:r>
                        <a:rPr lang="en-US"/>
                        <m:t>(</m:t>
                      </m:r>
                      <m:r>
                        <a:rPr lang="en-US" i="1"/>
                        <m:t>𝑓</m:t>
                      </m:r>
                      <m:r>
                        <a:rPr lang="en-US"/>
                        <m:t>)</m:t>
                      </m:r>
                    </m:oMath>
                  </m:oMathPara>
                </a14:m>
                <a:endParaRPr lang="en-IN" dirty="0"/>
              </a:p>
              <a:p>
                <a:endParaRPr lang="en-IN" dirty="0"/>
              </a:p>
              <a:p>
                <a:endParaRPr lang="en-US" dirty="0"/>
              </a:p>
              <a:p>
                <a14:m>
                  <m:oMathPara xmlns:m="http://schemas.openxmlformats.org/officeDocument/2006/math">
                    <m:oMathParaPr>
                      <m:jc m:val="centerGroup"/>
                    </m:oMathParaPr>
                    <m:oMath xmlns:m="http://schemas.openxmlformats.org/officeDocument/2006/math">
                      <m:r>
                        <m:rPr>
                          <m:nor/>
                        </m:rPr>
                        <a:rPr lang="en-US"/>
                        <m:t>Since</m:t>
                      </m:r>
                      <m:r>
                        <m:rPr>
                          <m:nor/>
                        </m:rPr>
                        <a:rPr lang="en-US"/>
                        <m:t> </m:t>
                      </m:r>
                      <m:sSub>
                        <m:sSubPr>
                          <m:ctrlPr>
                            <a:rPr lang="en-IN" i="1"/>
                          </m:ctrlPr>
                        </m:sSubPr>
                        <m:e>
                          <m:r>
                            <a:rPr lang="en-US" i="1"/>
                            <m:t>𝑅</m:t>
                          </m:r>
                        </m:e>
                        <m:sub>
                          <m:r>
                            <a:rPr lang="en-US" i="1"/>
                            <m:t>𝑋</m:t>
                          </m:r>
                        </m:sub>
                      </m:sSub>
                      <m:r>
                        <a:rPr lang="en-US"/>
                        <m:t>(</m:t>
                      </m:r>
                      <m:r>
                        <a:rPr lang="en-US" i="1"/>
                        <m:t>𝜏</m:t>
                      </m:r>
                      <m:r>
                        <a:rPr lang="en-US"/>
                        <m:t>)</m:t>
                      </m:r>
                      <m:r>
                        <m:rPr>
                          <m:nor/>
                        </m:rPr>
                        <a:rPr lang="en-US"/>
                        <m:t> </m:t>
                      </m:r>
                      <m:r>
                        <m:rPr>
                          <m:nor/>
                        </m:rPr>
                        <a:rPr lang="en-US"/>
                        <m:t>is</m:t>
                      </m:r>
                      <m:r>
                        <m:rPr>
                          <m:nor/>
                        </m:rPr>
                        <a:rPr lang="en-US"/>
                        <m:t> </m:t>
                      </m:r>
                      <m:r>
                        <m:rPr>
                          <m:nor/>
                        </m:rPr>
                        <a:rPr lang="en-US"/>
                        <m:t>real</m:t>
                      </m:r>
                      <m:r>
                        <m:rPr>
                          <m:nor/>
                        </m:rPr>
                        <a:rPr lang="en-US"/>
                        <m:t>, </m:t>
                      </m:r>
                      <m:sSub>
                        <m:sSubPr>
                          <m:ctrlPr>
                            <a:rPr lang="en-IN" i="1"/>
                          </m:ctrlPr>
                        </m:sSubPr>
                        <m:e>
                          <m:r>
                            <a:rPr lang="en-US" i="1"/>
                            <m:t>𝑆</m:t>
                          </m:r>
                        </m:e>
                        <m:sub>
                          <m:r>
                            <a:rPr lang="en-US" i="1"/>
                            <m:t>𝑋</m:t>
                          </m:r>
                        </m:sub>
                      </m:sSub>
                      <m:r>
                        <a:rPr lang="en-US"/>
                        <m:t>(</m:t>
                      </m:r>
                      <m:r>
                        <a:rPr lang="en-US" i="1"/>
                        <m:t>𝑓</m:t>
                      </m:r>
                      <m:r>
                        <a:rPr lang="en-US"/>
                        <m:t>)</m:t>
                      </m:r>
                      <m:r>
                        <m:rPr>
                          <m:nor/>
                        </m:rPr>
                        <a:rPr lang="en-US"/>
                        <m:t> </m:t>
                      </m:r>
                      <m:r>
                        <m:rPr>
                          <m:nor/>
                        </m:rPr>
                        <a:rPr lang="en-US"/>
                        <m:t>is</m:t>
                      </m:r>
                      <m:r>
                        <m:rPr>
                          <m:nor/>
                        </m:rPr>
                        <a:rPr lang="en-US"/>
                        <m:t> </m:t>
                      </m:r>
                      <m:r>
                        <m:rPr>
                          <m:nor/>
                        </m:rPr>
                        <a:rPr lang="en-US"/>
                        <m:t>real</m:t>
                      </m:r>
                      <m:r>
                        <m:rPr>
                          <m:nor/>
                        </m:rPr>
                        <a:rPr lang="en-US"/>
                        <m:t>-</m:t>
                      </m:r>
                      <m:r>
                        <m:rPr>
                          <m:nor/>
                        </m:rPr>
                        <a:rPr lang="en-US"/>
                        <m:t>valued</m:t>
                      </m:r>
                      <m:r>
                        <m:rPr>
                          <m:nor/>
                        </m:rPr>
                        <a:rPr lang="en-US"/>
                        <m:t>, </m:t>
                      </m:r>
                      <m:r>
                        <m:rPr>
                          <m:nor/>
                        </m:rPr>
                        <a:rPr lang="en-US"/>
                        <m:t>so</m:t>
                      </m:r>
                      <m:r>
                        <m:rPr>
                          <m:nor/>
                        </m:rPr>
                        <a:rPr lang="en-US"/>
                        <m:t> </m:t>
                      </m:r>
                      <m:sSubSup>
                        <m:sSubSupPr>
                          <m:ctrlPr>
                            <a:rPr lang="en-IN" i="1"/>
                          </m:ctrlPr>
                        </m:sSubSupPr>
                        <m:e>
                          <m:r>
                            <a:rPr lang="en-US" i="1"/>
                            <m:t>𝑆</m:t>
                          </m:r>
                        </m:e>
                        <m:sub>
                          <m:r>
                            <a:rPr lang="en-US" i="1"/>
                            <m:t>𝑋</m:t>
                          </m:r>
                        </m:sub>
                        <m:sup>
                          <m:r>
                            <a:rPr lang="en-US"/>
                            <m:t>∗</m:t>
                          </m:r>
                        </m:sup>
                      </m:sSubSup>
                      <m:r>
                        <a:rPr lang="en-US"/>
                        <m:t>(</m:t>
                      </m:r>
                      <m:r>
                        <a:rPr lang="en-US" i="1"/>
                        <m:t>𝑓</m:t>
                      </m:r>
                      <m:r>
                        <a:rPr lang="en-US"/>
                        <m:t>)=</m:t>
                      </m:r>
                      <m:sSub>
                        <m:sSubPr>
                          <m:ctrlPr>
                            <a:rPr lang="en-IN" i="1"/>
                          </m:ctrlPr>
                        </m:sSubPr>
                        <m:e>
                          <m:r>
                            <a:rPr lang="en-US" i="1"/>
                            <m:t>𝑆</m:t>
                          </m:r>
                        </m:e>
                        <m:sub>
                          <m:r>
                            <a:rPr lang="en-US" i="1"/>
                            <m:t>𝑋</m:t>
                          </m:r>
                        </m:sub>
                      </m:sSub>
                      <m:r>
                        <a:rPr lang="en-US"/>
                        <m:t>(</m:t>
                      </m:r>
                      <m:r>
                        <a:rPr lang="en-US" i="1"/>
                        <m:t>𝑓</m:t>
                      </m:r>
                      <m:r>
                        <a:rPr lang="en-US"/>
                        <m:t>)</m:t>
                      </m:r>
                      <m:r>
                        <m:rPr>
                          <m:nor/>
                        </m:rPr>
                        <a:rPr lang="en-US"/>
                        <m:t>. </m:t>
                      </m:r>
                      <m:r>
                        <m:rPr>
                          <m:nor/>
                        </m:rPr>
                        <a:rPr lang="en-US"/>
                        <m:t>Therefore</m:t>
                      </m:r>
                      <m:r>
                        <m:rPr>
                          <m:nor/>
                        </m:rPr>
                        <a:rPr lang="en-US"/>
                        <m:t>:</m:t>
                      </m:r>
                    </m:oMath>
                  </m:oMathPara>
                </a14:m>
                <a:endParaRPr lang="en-IN" dirty="0"/>
              </a:p>
              <a:p>
                <a14:m>
                  <m:oMath xmlns:m="http://schemas.openxmlformats.org/officeDocument/2006/math">
                    <m:borderBox>
                      <m:borderBoxPr>
                        <m:hideTop m:val="on"/>
                        <m:hideBot m:val="on"/>
                        <m:hideLeft m:val="on"/>
                        <m:hideRight m:val="on"/>
                        <m:ctrlPr>
                          <a:rPr lang="en-IN" i="1" smtClean="0"/>
                        </m:ctrlPr>
                      </m:borderBoxPr>
                      <m:e>
                        <m:sSub>
                          <m:sSubPr>
                            <m:ctrlPr>
                              <a:rPr lang="en-IN" i="1"/>
                            </m:ctrlPr>
                          </m:sSubPr>
                          <m:e>
                            <m:r>
                              <a:rPr lang="en-IN" b="0" i="1" smtClean="0">
                                <a:latin typeface="Cambria Math" panose="02040503050406030204" pitchFamily="18" charset="0"/>
                              </a:rPr>
                              <m:t>                                                           </m:t>
                            </m:r>
                            <m:r>
                              <a:rPr lang="en-US" i="1"/>
                              <m:t>𝑆</m:t>
                            </m:r>
                          </m:e>
                          <m:sub>
                            <m:r>
                              <a:rPr lang="en-US" i="1"/>
                              <m:t>𝑋</m:t>
                            </m:r>
                          </m:sub>
                        </m:sSub>
                        <m:r>
                          <a:rPr lang="en-US"/>
                          <m:t>(−</m:t>
                        </m:r>
                        <m:r>
                          <a:rPr lang="en-US" i="1"/>
                          <m:t>𝑓</m:t>
                        </m:r>
                        <m:r>
                          <a:rPr lang="en-US"/>
                          <m:t>)=</m:t>
                        </m:r>
                        <m:sSub>
                          <m:sSubPr>
                            <m:ctrlPr>
                              <a:rPr lang="en-IN" i="1"/>
                            </m:ctrlPr>
                          </m:sSubPr>
                          <m:e>
                            <m:r>
                              <a:rPr lang="en-US" i="1"/>
                              <m:t>𝑆</m:t>
                            </m:r>
                          </m:e>
                          <m:sub>
                            <m:r>
                              <a:rPr lang="en-US" i="1"/>
                              <m:t>𝑋</m:t>
                            </m:r>
                          </m:sub>
                        </m:sSub>
                        <m:r>
                          <a:rPr lang="en-US"/>
                          <m:t>(</m:t>
                        </m:r>
                        <m:r>
                          <a:rPr lang="en-US" i="1"/>
                          <m:t>𝑓</m:t>
                        </m:r>
                        <m:r>
                          <a:rPr lang="en-US"/>
                          <m:t>) ∀ </m:t>
                        </m:r>
                        <m:r>
                          <a:rPr lang="en-US" i="1"/>
                          <m:t>𝑓</m:t>
                        </m:r>
                        <m:r>
                          <a:rPr lang="en-US"/>
                          <m:t>∈</m:t>
                        </m:r>
                        <m:r>
                          <a:rPr lang="en-US" i="1"/>
                          <m:t>ℝ</m:t>
                        </m:r>
                      </m:e>
                    </m:borderBox>
                  </m:oMath>
                </a14:m>
                <a:r>
                  <a:rPr lang="en-US" sz="1800" dirty="0">
                    <a:solidFill>
                      <a:srgbClr val="000000"/>
                    </a:solidFill>
                    <a:effectLst/>
                    <a:latin typeface="Georgia" panose="02040502050405020303" pitchFamily="18" charset="0"/>
                    <a:ea typeface="Georgia" panose="02040502050405020303" pitchFamily="18" charset="0"/>
                    <a:cs typeface="Georgia" panose="02040502050405020303" pitchFamily="18" charset="0"/>
                  </a:rPr>
                  <a:t>o </a:t>
                </a:r>
                <a14:m>
                  <m:oMath xmlns:m="http://schemas.openxmlformats.org/officeDocument/2006/math">
                    <m:sSubSup>
                      <m:sSubSup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Sup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𝑆</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𝑋</m:t>
                        </m:r>
                      </m:sub>
                      <m:sup>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sup>
                    </m:sSubSup>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sSub>
                      <m:sSub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𝑆</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𝑋</m:t>
                        </m:r>
                      </m:sub>
                    </m:sSub>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oMath>
                </a14:m>
                <a:r>
                  <a:rPr lang="en-US" sz="1800" dirty="0">
                    <a:solidFill>
                      <a:srgbClr val="000000"/>
                    </a:solidFill>
                    <a:effectLst/>
                    <a:latin typeface="Georgia" panose="02040502050405020303" pitchFamily="18" charset="0"/>
                    <a:ea typeface="Georgia" panose="02040502050405020303" pitchFamily="18" charset="0"/>
                    <a:cs typeface="Georgia" panose="02040502050405020303" pitchFamily="18" charset="0"/>
                  </a:rPr>
                  <a:t>. Therefore:</a:t>
                </a:r>
                <a:endParaRPr lang="en-IN" sz="2800" dirty="0">
                  <a:effectLst/>
                  <a:latin typeface="Georgia" panose="02040502050405020303" pitchFamily="18" charset="0"/>
                  <a:ea typeface="Calibri" panose="020F0502020204030204" pitchFamily="34" charset="0"/>
                  <a:cs typeface="Mangal" panose="02040503050203030202" pitchFamily="18" charset="0"/>
                </a:endParaRPr>
              </a:p>
              <a:p>
                <a:pPr>
                  <a:lnSpc>
                    <a:spcPct val="150000"/>
                  </a:lnSpc>
                  <a:spcAft>
                    <a:spcPts val="1050"/>
                  </a:spcAft>
                  <a:buNone/>
                </a:pPr>
                <a14:m>
                  <m:oMathPara xmlns:m="http://schemas.openxmlformats.org/officeDocument/2006/math">
                    <m:oMathParaPr>
                      <m:jc m:val="centerGroup"/>
                    </m:oMathParaPr>
                    <m:oMath xmlns:m="http://schemas.openxmlformats.org/officeDocument/2006/math">
                      <m:borderBox>
                        <m:borderBoxPr>
                          <m:hideTop m:val="on"/>
                          <m:hideBot m:val="on"/>
                          <m:hideLeft m:val="on"/>
                          <m:hideRight m:val="on"/>
                          <m:ctrlPr>
                            <a:rPr lang="en-IN" sz="1800" i="1">
                              <a:effectLst/>
                              <a:latin typeface="Cambria Math" panose="02040503050406030204" pitchFamily="18" charset="0"/>
                              <a:ea typeface="Calibri" panose="020F0502020204030204" pitchFamily="34" charset="0"/>
                              <a:cs typeface="Mangal" panose="02040503050203030202" pitchFamily="18" charset="0"/>
                            </a:rPr>
                          </m:ctrlPr>
                        </m:borderBoxPr>
                        <m:e>
                          <m:sSub>
                            <m:sSubPr>
                              <m:ctrlPr>
                                <a:rPr lang="en-IN"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𝑆</m:t>
                              </m:r>
                            </m:e>
                            <m:sub>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𝑋</m:t>
                              </m:r>
                            </m:sub>
                          </m:sSub>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 ∀ </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𝑓</m:t>
                          </m:r>
                          <m:r>
                            <a:rPr lang="en-US" sz="1800">
                              <a:solidFill>
                                <a:srgbClr val="000000"/>
                              </a:solidFill>
                              <a:effectLst/>
                              <a:latin typeface="Cambria Math" panose="02040503050406030204" pitchFamily="18" charset="0"/>
                              <a:ea typeface="Calibri" panose="020F0502020204030204" pitchFamily="34" charset="0"/>
                              <a:cs typeface="Mangal" panose="02040503050203030202" pitchFamily="18" charset="0"/>
                            </a:rPr>
                            <m:t>∈</m:t>
                          </m:r>
                          <m:r>
                            <a:rPr lang="en-US" sz="1800" i="1">
                              <a:solidFill>
                                <a:srgbClr val="000000"/>
                              </a:solidFill>
                              <a:effectLst/>
                              <a:latin typeface="Cambria Math" panose="02040503050406030204" pitchFamily="18" charset="0"/>
                              <a:ea typeface="Calibri" panose="020F0502020204030204" pitchFamily="34" charset="0"/>
                              <a:cs typeface="Mangal" panose="02040503050203030202" pitchFamily="18" charset="0"/>
                            </a:rPr>
                            <m:t>ℝ</m:t>
                          </m:r>
                        </m:e>
                      </m:borderBox>
                    </m:oMath>
                  </m:oMathPara>
                </a14:m>
                <a:endParaRPr lang="en-IN" sz="2800" dirty="0">
                  <a:effectLst/>
                  <a:latin typeface="Georgia" panose="02040502050405020303" pitchFamily="18" charset="0"/>
                  <a:ea typeface="Calibri" panose="020F0502020204030204" pitchFamily="34" charset="0"/>
                  <a:cs typeface="Mangal" panose="02040503050203030202" pitchFamily="18" charset="0"/>
                </a:endParaRPr>
              </a:p>
            </p:txBody>
          </p:sp>
        </mc:Choice>
        <mc:Fallback>
          <p:sp>
            <p:nvSpPr>
              <p:cNvPr id="8" name="TextBox 7">
                <a:extLst>
                  <a:ext uri="{FF2B5EF4-FFF2-40B4-BE49-F238E27FC236}">
                    <a16:creationId xmlns:a16="http://schemas.microsoft.com/office/drawing/2014/main" id="{355738E3-01EA-85CC-CEB1-26BD6FF5987F}"/>
                  </a:ext>
                </a:extLst>
              </p:cNvPr>
              <p:cNvSpPr txBox="1">
                <a:spLocks noRot="1" noChangeAspect="1" noMove="1" noResize="1" noEditPoints="1" noAdjustHandles="1" noChangeArrowheads="1" noChangeShapeType="1" noTextEdit="1"/>
              </p:cNvSpPr>
              <p:nvPr/>
            </p:nvSpPr>
            <p:spPr>
              <a:xfrm>
                <a:off x="275908" y="1061884"/>
                <a:ext cx="10019070" cy="3225307"/>
              </a:xfrm>
              <a:prstGeom prst="rect">
                <a:avLst/>
              </a:prstGeom>
              <a:blipFill>
                <a:blip r:embed="rId2"/>
                <a:stretch>
                  <a:fillRect/>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4E52B2BF-F1A1-BB55-85ED-B9C2407CF390}"/>
              </a:ext>
            </a:extLst>
          </p:cNvPr>
          <p:cNvPicPr>
            <a:picLocks noChangeAspect="1"/>
          </p:cNvPicPr>
          <p:nvPr/>
        </p:nvPicPr>
        <p:blipFill>
          <a:blip r:embed="rId3"/>
          <a:stretch>
            <a:fillRect/>
          </a:stretch>
        </p:blipFill>
        <p:spPr>
          <a:xfrm>
            <a:off x="609600" y="4148844"/>
            <a:ext cx="10639108" cy="2067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88" y="6629400"/>
            <a:ext cx="12188952"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5908" y="6675120"/>
            <a:ext cx="10972800" cy="215444"/>
          </a:xfrm>
          <a:prstGeom prst="rect">
            <a:avLst/>
          </a:prstGeom>
          <a:noFill/>
        </p:spPr>
        <p:txBody>
          <a:bodyPr wrap="square">
            <a:spAutoFit/>
          </a:bodyPr>
          <a:lstStyle/>
          <a:p>
            <a:pPr algn="l"/>
            <a:r>
              <a:rPr sz="800">
                <a:solidFill>
                  <a:srgbClr val="666666"/>
                </a:solidFill>
              </a:rPr>
              <a:t>Audio Noise Cancellation using Wiener Filter  |  Surya Singh  |  VIT Vellore</a:t>
            </a:r>
          </a:p>
        </p:txBody>
      </p:sp>
      <p:sp>
        <p:nvSpPr>
          <p:cNvPr id="6" name="TextBox 5"/>
          <p:cNvSpPr txBox="1"/>
          <p:nvPr/>
        </p:nvSpPr>
        <p:spPr>
          <a:xfrm>
            <a:off x="11797348" y="6492240"/>
            <a:ext cx="365760" cy="230832"/>
          </a:xfrm>
          <a:prstGeom prst="rect">
            <a:avLst/>
          </a:prstGeom>
          <a:noFill/>
        </p:spPr>
        <p:txBody>
          <a:bodyPr wrap="square">
            <a:spAutoFit/>
          </a:bodyPr>
          <a:lstStyle/>
          <a:p>
            <a:pPr algn="r"/>
            <a:r>
              <a:rPr sz="900">
                <a:solidFill>
                  <a:srgbClr val="666666"/>
                </a:solidFill>
              </a:rPr>
              <a:t>8</a:t>
            </a:r>
          </a:p>
        </p:txBody>
      </p:sp>
      <p:pic>
        <p:nvPicPr>
          <p:cNvPr id="2" name="Picture 1">
            <a:extLst>
              <a:ext uri="{FF2B5EF4-FFF2-40B4-BE49-F238E27FC236}">
                <a16:creationId xmlns:a16="http://schemas.microsoft.com/office/drawing/2014/main" id="{360CA1DD-0B4E-19AD-967E-2815665F6D40}"/>
              </a:ext>
            </a:extLst>
          </p:cNvPr>
          <p:cNvPicPr>
            <a:picLocks noChangeAspect="1"/>
          </p:cNvPicPr>
          <p:nvPr/>
        </p:nvPicPr>
        <p:blipFill>
          <a:blip r:embed="rId2"/>
          <a:stretch>
            <a:fillRect/>
          </a:stretch>
        </p:blipFill>
        <p:spPr>
          <a:xfrm>
            <a:off x="466663" y="576170"/>
            <a:ext cx="11258673" cy="2486578"/>
          </a:xfrm>
          <a:prstGeom prst="rect">
            <a:avLst/>
          </a:prstGeom>
        </p:spPr>
      </p:pic>
      <p:sp>
        <p:nvSpPr>
          <p:cNvPr id="8" name="TextBox 7">
            <a:extLst>
              <a:ext uri="{FF2B5EF4-FFF2-40B4-BE49-F238E27FC236}">
                <a16:creationId xmlns:a16="http://schemas.microsoft.com/office/drawing/2014/main" id="{C39FA84F-4262-EC14-ECDD-EDA069A5D9AC}"/>
              </a:ext>
            </a:extLst>
          </p:cNvPr>
          <p:cNvSpPr txBox="1"/>
          <p:nvPr/>
        </p:nvSpPr>
        <p:spPr>
          <a:xfrm>
            <a:off x="466663" y="3244334"/>
            <a:ext cx="3318756" cy="369332"/>
          </a:xfrm>
          <a:prstGeom prst="rect">
            <a:avLst/>
          </a:prstGeom>
          <a:noFill/>
        </p:spPr>
        <p:txBody>
          <a:bodyPr wrap="square" rtlCol="0">
            <a:spAutoFit/>
          </a:bodyPr>
          <a:lstStyle/>
          <a:p>
            <a:r>
              <a:rPr lang="en-IN" b="1" dirty="0"/>
              <a:t>CONSOLE OUTPUT:</a:t>
            </a:r>
          </a:p>
        </p:txBody>
      </p:sp>
      <p:pic>
        <p:nvPicPr>
          <p:cNvPr id="9" name="Picture 8">
            <a:extLst>
              <a:ext uri="{FF2B5EF4-FFF2-40B4-BE49-F238E27FC236}">
                <a16:creationId xmlns:a16="http://schemas.microsoft.com/office/drawing/2014/main" id="{ADBAD0C5-FB9E-189C-1682-2F3DDBA5740E}"/>
              </a:ext>
            </a:extLst>
          </p:cNvPr>
          <p:cNvPicPr>
            <a:picLocks noChangeAspect="1"/>
          </p:cNvPicPr>
          <p:nvPr/>
        </p:nvPicPr>
        <p:blipFill>
          <a:blip r:embed="rId3"/>
          <a:stretch>
            <a:fillRect/>
          </a:stretch>
        </p:blipFill>
        <p:spPr>
          <a:xfrm>
            <a:off x="676213" y="4105795"/>
            <a:ext cx="10503064" cy="18159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94C9C-9F22-E804-4CB5-9DCEBA010771}"/>
              </a:ext>
            </a:extLst>
          </p:cNvPr>
          <p:cNvSpPr>
            <a:spLocks noGrp="1"/>
          </p:cNvSpPr>
          <p:nvPr>
            <p:ph type="title"/>
          </p:nvPr>
        </p:nvSpPr>
        <p:spPr>
          <a:xfrm>
            <a:off x="228600" y="268034"/>
            <a:ext cx="9905999" cy="846307"/>
          </a:xfrm>
        </p:spPr>
        <p:txBody>
          <a:bodyPr/>
          <a:lstStyle/>
          <a:p>
            <a:r>
              <a:rPr lang="en-IN" dirty="0"/>
              <a:t>MATLAB GRAPHS</a:t>
            </a:r>
          </a:p>
        </p:txBody>
      </p:sp>
      <p:pic>
        <p:nvPicPr>
          <p:cNvPr id="3" name="Picture 2">
            <a:extLst>
              <a:ext uri="{FF2B5EF4-FFF2-40B4-BE49-F238E27FC236}">
                <a16:creationId xmlns:a16="http://schemas.microsoft.com/office/drawing/2014/main" id="{23CA1421-B684-10B4-CAD9-7F442EF56B11}"/>
              </a:ext>
            </a:extLst>
          </p:cNvPr>
          <p:cNvPicPr>
            <a:picLocks noChangeAspect="1"/>
          </p:cNvPicPr>
          <p:nvPr/>
        </p:nvPicPr>
        <p:blipFill>
          <a:blip r:embed="rId2"/>
          <a:stretch>
            <a:fillRect/>
          </a:stretch>
        </p:blipFill>
        <p:spPr>
          <a:xfrm>
            <a:off x="729141" y="1143002"/>
            <a:ext cx="4579739" cy="4314657"/>
          </a:xfrm>
          <a:prstGeom prst="rect">
            <a:avLst/>
          </a:prstGeom>
        </p:spPr>
      </p:pic>
      <p:sp>
        <p:nvSpPr>
          <p:cNvPr id="5" name="Content Placeholder 4">
            <a:extLst>
              <a:ext uri="{FF2B5EF4-FFF2-40B4-BE49-F238E27FC236}">
                <a16:creationId xmlns:a16="http://schemas.microsoft.com/office/drawing/2014/main" id="{DEDF8F03-3DD3-8C19-5B78-069A89A41AC2}"/>
              </a:ext>
            </a:extLst>
          </p:cNvPr>
          <p:cNvSpPr>
            <a:spLocks noGrp="1"/>
          </p:cNvSpPr>
          <p:nvPr>
            <p:ph sz="half" idx="2"/>
          </p:nvPr>
        </p:nvSpPr>
        <p:spPr>
          <a:xfrm>
            <a:off x="2180492" y="5525485"/>
            <a:ext cx="9294726" cy="364614"/>
          </a:xfrm>
        </p:spPr>
        <p:txBody>
          <a:bodyPr>
            <a:normAutofit fontScale="85000" lnSpcReduction="20000"/>
          </a:bodyPr>
          <a:lstStyle/>
          <a:p>
            <a:pPr marL="0" indent="0">
              <a:buNone/>
            </a:pPr>
            <a:r>
              <a:rPr lang="en-IN" b="1" dirty="0"/>
              <a:t>GRAPH 1                                                                                                       GRAPH 2</a:t>
            </a:r>
          </a:p>
        </p:txBody>
      </p:sp>
      <p:pic>
        <p:nvPicPr>
          <p:cNvPr id="7" name="Picture 6">
            <a:extLst>
              <a:ext uri="{FF2B5EF4-FFF2-40B4-BE49-F238E27FC236}">
                <a16:creationId xmlns:a16="http://schemas.microsoft.com/office/drawing/2014/main" id="{4E31BE06-DB48-821E-3367-F9C97426FBFC}"/>
              </a:ext>
            </a:extLst>
          </p:cNvPr>
          <p:cNvPicPr>
            <a:picLocks noChangeAspect="1"/>
          </p:cNvPicPr>
          <p:nvPr/>
        </p:nvPicPr>
        <p:blipFill>
          <a:blip r:embed="rId3"/>
          <a:stretch>
            <a:fillRect/>
          </a:stretch>
        </p:blipFill>
        <p:spPr>
          <a:xfrm>
            <a:off x="6253821" y="1114341"/>
            <a:ext cx="4929993" cy="4314656"/>
          </a:xfrm>
          <a:prstGeom prst="rect">
            <a:avLst/>
          </a:prstGeom>
        </p:spPr>
      </p:pic>
    </p:spTree>
    <p:extLst>
      <p:ext uri="{BB962C8B-B14F-4D97-AF65-F5344CB8AC3E}">
        <p14:creationId xmlns:p14="http://schemas.microsoft.com/office/powerpoint/2010/main" val="972816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A57A66-83C7-3D2B-CFDD-D1CFBD65FDC9}"/>
              </a:ext>
            </a:extLst>
          </p:cNvPr>
          <p:cNvPicPr>
            <a:picLocks noChangeAspect="1"/>
          </p:cNvPicPr>
          <p:nvPr/>
        </p:nvPicPr>
        <p:blipFill>
          <a:blip r:embed="rId2"/>
          <a:stretch>
            <a:fillRect/>
          </a:stretch>
        </p:blipFill>
        <p:spPr>
          <a:xfrm>
            <a:off x="911344" y="857752"/>
            <a:ext cx="4755926" cy="4387488"/>
          </a:xfrm>
          <a:prstGeom prst="rect">
            <a:avLst/>
          </a:prstGeom>
        </p:spPr>
      </p:pic>
      <p:pic>
        <p:nvPicPr>
          <p:cNvPr id="3" name="Picture 2">
            <a:extLst>
              <a:ext uri="{FF2B5EF4-FFF2-40B4-BE49-F238E27FC236}">
                <a16:creationId xmlns:a16="http://schemas.microsoft.com/office/drawing/2014/main" id="{1734FBE4-F0ED-9A08-9E1C-AC3F93F5E4B2}"/>
              </a:ext>
            </a:extLst>
          </p:cNvPr>
          <p:cNvPicPr>
            <a:picLocks noChangeAspect="1"/>
          </p:cNvPicPr>
          <p:nvPr/>
        </p:nvPicPr>
        <p:blipFill>
          <a:blip r:embed="rId3"/>
          <a:stretch>
            <a:fillRect/>
          </a:stretch>
        </p:blipFill>
        <p:spPr>
          <a:xfrm>
            <a:off x="6870017" y="857751"/>
            <a:ext cx="4755926" cy="4387487"/>
          </a:xfrm>
          <a:prstGeom prst="rect">
            <a:avLst/>
          </a:prstGeom>
        </p:spPr>
      </p:pic>
      <p:sp>
        <p:nvSpPr>
          <p:cNvPr id="4" name="TextBox 3">
            <a:extLst>
              <a:ext uri="{FF2B5EF4-FFF2-40B4-BE49-F238E27FC236}">
                <a16:creationId xmlns:a16="http://schemas.microsoft.com/office/drawing/2014/main" id="{470182BD-ECAD-B5EC-78A9-31C8126973E7}"/>
              </a:ext>
            </a:extLst>
          </p:cNvPr>
          <p:cNvSpPr txBox="1"/>
          <p:nvPr/>
        </p:nvSpPr>
        <p:spPr>
          <a:xfrm>
            <a:off x="1085221" y="5630916"/>
            <a:ext cx="10661301" cy="369332"/>
          </a:xfrm>
          <a:prstGeom prst="rect">
            <a:avLst/>
          </a:prstGeom>
          <a:noFill/>
        </p:spPr>
        <p:txBody>
          <a:bodyPr wrap="square" rtlCol="0">
            <a:spAutoFit/>
          </a:bodyPr>
          <a:lstStyle/>
          <a:p>
            <a:r>
              <a:rPr lang="en-IN" b="1" dirty="0"/>
              <a:t>                               GRAPH 3                                                                                             GRAPH 4</a:t>
            </a:r>
          </a:p>
        </p:txBody>
      </p:sp>
    </p:spTree>
    <p:extLst>
      <p:ext uri="{BB962C8B-B14F-4D97-AF65-F5344CB8AC3E}">
        <p14:creationId xmlns:p14="http://schemas.microsoft.com/office/powerpoint/2010/main" val="2162659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F9E80BD-7B5C-E029-E3C4-2060EC8EE35C}"/>
                  </a:ext>
                </a:extLst>
              </p:cNvPr>
              <p:cNvSpPr txBox="1"/>
              <p:nvPr/>
            </p:nvSpPr>
            <p:spPr>
              <a:xfrm>
                <a:off x="481780" y="858285"/>
                <a:ext cx="11228439" cy="5280741"/>
              </a:xfrm>
              <a:prstGeom prst="rect">
                <a:avLst/>
              </a:prstGeom>
              <a:noFill/>
            </p:spPr>
            <p:txBody>
              <a:bodyPr wrap="square">
                <a:spAutoFit/>
              </a:bodyPr>
              <a:lstStyle/>
              <a:p>
                <a:pPr>
                  <a:buFont typeface="+mj-lt"/>
                  <a:buAutoNum type="arabicPeriod"/>
                </a:pPr>
                <a:r>
                  <a:rPr lang="en-IN" sz="1600" dirty="0"/>
                  <a:t>The autocorrelation function </a:t>
                </a:r>
                <a14:m>
                  <m:oMath xmlns:m="http://schemas.openxmlformats.org/officeDocument/2006/math">
                    <m:sSub>
                      <m:sSubPr>
                        <m:ctrlPr>
                          <a:rPr lang="ar-AE" sz="1600" i="1">
                            <a:latin typeface="Cambria Math" panose="02040503050406030204" pitchFamily="18" charset="0"/>
                          </a:rPr>
                        </m:ctrlPr>
                      </m:sSubPr>
                      <m:e>
                        <m:r>
                          <a:rPr lang="ar-AE" sz="1600" b="0" i="1">
                            <a:latin typeface="Cambria Math" panose="02040503050406030204" pitchFamily="18" charset="0"/>
                          </a:rPr>
                          <m:t>𝑅</m:t>
                        </m:r>
                      </m:e>
                      <m:sub>
                        <m:r>
                          <a:rPr lang="ar-AE" sz="1600" b="0" i="1">
                            <a:latin typeface="Cambria Math" panose="02040503050406030204" pitchFamily="18" charset="0"/>
                          </a:rPr>
                          <m:t>𝑋</m:t>
                        </m:r>
                      </m:sub>
                    </m:sSub>
                    <m:d>
                      <m:dPr>
                        <m:ctrlPr>
                          <a:rPr lang="ar-AE" sz="1600" i="1">
                            <a:latin typeface="Cambria Math" panose="02040503050406030204" pitchFamily="18" charset="0"/>
                          </a:rPr>
                        </m:ctrlPr>
                      </m:dPr>
                      <m:e>
                        <m:r>
                          <a:rPr lang="ar-AE" sz="1600" b="0" i="1">
                            <a:latin typeface="Cambria Math" panose="02040503050406030204" pitchFamily="18" charset="0"/>
                          </a:rPr>
                          <m:t>𝜏</m:t>
                        </m:r>
                      </m:e>
                    </m:d>
                    <m:r>
                      <a:rPr lang="ar-AE" sz="1600" b="0" i="0">
                        <a:latin typeface="Cambria Math" panose="02040503050406030204" pitchFamily="18" charset="0"/>
                      </a:rPr>
                      <m:t>=</m:t>
                    </m:r>
                    <m:sSup>
                      <m:sSupPr>
                        <m:ctrlPr>
                          <a:rPr lang="ar-AE" sz="1600" i="1">
                            <a:latin typeface="Cambria Math" panose="02040503050406030204" pitchFamily="18" charset="0"/>
                          </a:rPr>
                        </m:ctrlPr>
                      </m:sSupPr>
                      <m:e>
                        <m:r>
                          <a:rPr lang="ar-AE" sz="1600" b="0" i="1">
                            <a:latin typeface="Cambria Math" panose="02040503050406030204" pitchFamily="18" charset="0"/>
                          </a:rPr>
                          <m:t>𝑒</m:t>
                        </m:r>
                      </m:e>
                      <m:sup>
                        <m:r>
                          <a:rPr lang="ar-AE" sz="1600" b="0" i="0">
                            <a:latin typeface="Cambria Math" panose="02040503050406030204" pitchFamily="18" charset="0"/>
                          </a:rPr>
                          <m:t>−</m:t>
                        </m:r>
                        <m:r>
                          <a:rPr lang="ar-AE" sz="1600" b="0" i="1">
                            <a:latin typeface="Cambria Math" panose="02040503050406030204" pitchFamily="18" charset="0"/>
                          </a:rPr>
                          <m:t>𝑎</m:t>
                        </m:r>
                        <m:r>
                          <a:rPr lang="ar-AE" sz="1600" b="0" i="0">
                            <a:latin typeface="Cambria Math" panose="02040503050406030204" pitchFamily="18" charset="0"/>
                          </a:rPr>
                          <m:t>∣</m:t>
                        </m:r>
                        <m:r>
                          <a:rPr lang="ar-AE" sz="1600" b="0" i="1">
                            <a:latin typeface="Cambria Math" panose="02040503050406030204" pitchFamily="18" charset="0"/>
                          </a:rPr>
                          <m:t>𝜏</m:t>
                        </m:r>
                        <m:r>
                          <a:rPr lang="ar-AE" sz="1600" b="0" i="0">
                            <a:latin typeface="Cambria Math" panose="02040503050406030204" pitchFamily="18" charset="0"/>
                          </a:rPr>
                          <m:t>∣</m:t>
                        </m:r>
                      </m:sup>
                    </m:sSup>
                  </m:oMath>
                </a14:m>
                <a:r>
                  <a:rPr lang="en-IN" sz="1600" dirty="0"/>
                  <a:t>is real, even, and symmetric about </a:t>
                </a:r>
                <a14:m>
                  <m:oMath xmlns:m="http://schemas.openxmlformats.org/officeDocument/2006/math">
                    <m:r>
                      <a:rPr lang="en-IN" sz="1600" b="0" i="1">
                        <a:latin typeface="Cambria Math" panose="02040503050406030204" pitchFamily="18" charset="0"/>
                      </a:rPr>
                      <m:t>𝜏</m:t>
                    </m:r>
                    <m:r>
                      <a:rPr lang="en-IN" sz="1600" b="0" i="0">
                        <a:latin typeface="Cambria Math" panose="02040503050406030204" pitchFamily="18" charset="0"/>
                      </a:rPr>
                      <m:t>=</m:t>
                    </m:r>
                    <m:r>
                      <a:rPr lang="en-IN" sz="1600" b="0" i="0">
                        <a:latin typeface="Cambria Math" panose="02040503050406030204" pitchFamily="18" charset="0"/>
                      </a:rPr>
                      <m:t>0</m:t>
                    </m:r>
                  </m:oMath>
                </a14:m>
                <a:r>
                  <a:rPr lang="en-IN" sz="1600" dirty="0"/>
                  <a:t>, confirming the process is WSS. </a:t>
                </a:r>
              </a:p>
              <a:p>
                <a:endParaRPr lang="en-IN" sz="1600" dirty="0"/>
              </a:p>
              <a:p>
                <a:pPr>
                  <a:buFont typeface="+mj-lt"/>
                  <a:buAutoNum type="arabicPeriod"/>
                </a:pPr>
                <a:r>
                  <a:rPr lang="en-IN" sz="1600" dirty="0"/>
                  <a:t>The ACF shows maximum value at </a:t>
                </a:r>
                <a14:m>
                  <m:oMath xmlns:m="http://schemas.openxmlformats.org/officeDocument/2006/math">
                    <m:r>
                      <a:rPr lang="en-IN" sz="1600" b="0" i="1">
                        <a:latin typeface="Cambria Math" panose="02040503050406030204" pitchFamily="18" charset="0"/>
                      </a:rPr>
                      <m:t>𝜏</m:t>
                    </m:r>
                    <m:r>
                      <a:rPr lang="en-IN" sz="1600" b="0" i="0">
                        <a:latin typeface="Cambria Math" panose="02040503050406030204" pitchFamily="18" charset="0"/>
                      </a:rPr>
                      <m:t>=</m:t>
                    </m:r>
                    <m:r>
                      <a:rPr lang="en-IN" sz="1600" b="0" i="0">
                        <a:latin typeface="Cambria Math" panose="02040503050406030204" pitchFamily="18" charset="0"/>
                      </a:rPr>
                      <m:t>0</m:t>
                    </m:r>
                  </m:oMath>
                </a14:m>
                <a:r>
                  <a:rPr lang="en-IN" sz="1600" dirty="0"/>
                  <a:t>and decays exponentially as </a:t>
                </a:r>
                <a14:m>
                  <m:oMath xmlns:m="http://schemas.openxmlformats.org/officeDocument/2006/math">
                    <m:r>
                      <a:rPr lang="en-IN" sz="1600" b="0">
                        <a:latin typeface="Cambria Math" panose="02040503050406030204" pitchFamily="18" charset="0"/>
                      </a:rPr>
                      <m:t>∣</m:t>
                    </m:r>
                    <m:r>
                      <a:rPr lang="en-IN" sz="1600" b="0" i="1">
                        <a:latin typeface="Cambria Math" panose="02040503050406030204" pitchFamily="18" charset="0"/>
                      </a:rPr>
                      <m:t>𝜏</m:t>
                    </m:r>
                    <m:r>
                      <a:rPr lang="en-IN" sz="1600" b="0" i="0">
                        <a:latin typeface="Cambria Math" panose="02040503050406030204" pitchFamily="18" charset="0"/>
                      </a:rPr>
                      <m:t>∣</m:t>
                    </m:r>
                  </m:oMath>
                </a14:m>
                <a:r>
                  <a:rPr lang="en-IN" sz="1600" dirty="0"/>
                  <a:t>increases, indicating loss of correlation over time.</a:t>
                </a:r>
              </a:p>
              <a:p>
                <a:r>
                  <a:rPr lang="en-IN" sz="1600" dirty="0"/>
                  <a:t> </a:t>
                </a:r>
              </a:p>
              <a:p>
                <a:pPr>
                  <a:buFont typeface="+mj-lt"/>
                  <a:buAutoNum type="arabicPeriod"/>
                </a:pPr>
                <a:r>
                  <a:rPr lang="en-IN" sz="1600" dirty="0"/>
                  <a:t>The analytical PSD </a:t>
                </a:r>
              </a:p>
              <a:p>
                <a:pPr>
                  <a:buNone/>
                </a:pPr>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b="0" i="1">
                              <a:latin typeface="Cambria Math" panose="02040503050406030204" pitchFamily="18" charset="0"/>
                            </a:rPr>
                            <m:t>𝑆</m:t>
                          </m:r>
                        </m:e>
                        <m:sub>
                          <m:r>
                            <a:rPr lang="ar-AE" sz="1600" b="0" i="1">
                              <a:latin typeface="Cambria Math" panose="02040503050406030204" pitchFamily="18" charset="0"/>
                            </a:rPr>
                            <m:t>𝑋</m:t>
                          </m:r>
                        </m:sub>
                      </m:sSub>
                      <m:d>
                        <m:dPr>
                          <m:ctrlPr>
                            <a:rPr lang="ar-AE" sz="1600" i="1">
                              <a:latin typeface="Cambria Math" panose="02040503050406030204" pitchFamily="18" charset="0"/>
                            </a:rPr>
                          </m:ctrlPr>
                        </m:dPr>
                        <m:e>
                          <m:r>
                            <a:rPr lang="ar-AE" sz="1600" b="0" i="1">
                              <a:latin typeface="Cambria Math" panose="02040503050406030204" pitchFamily="18" charset="0"/>
                            </a:rPr>
                            <m:t>𝑓</m:t>
                          </m:r>
                        </m:e>
                      </m:d>
                      <m:r>
                        <a:rPr lang="ar-AE" sz="1600" b="0" i="0">
                          <a:latin typeface="Cambria Math" panose="02040503050406030204" pitchFamily="18" charset="0"/>
                        </a:rPr>
                        <m:t>=</m:t>
                      </m:r>
                      <m:f>
                        <m:fPr>
                          <m:ctrlPr>
                            <a:rPr lang="ar-AE" sz="1600" i="1">
                              <a:latin typeface="Cambria Math" panose="02040503050406030204" pitchFamily="18" charset="0"/>
                            </a:rPr>
                          </m:ctrlPr>
                        </m:fPr>
                        <m:num>
                          <m:r>
                            <a:rPr lang="ar-AE" sz="1600" b="0" i="0">
                              <a:latin typeface="Cambria Math" panose="02040503050406030204" pitchFamily="18" charset="0"/>
                            </a:rPr>
                            <m:t>2</m:t>
                          </m:r>
                          <m:r>
                            <a:rPr lang="ar-AE" sz="1600" b="0" i="1">
                              <a:latin typeface="Cambria Math" panose="02040503050406030204" pitchFamily="18" charset="0"/>
                            </a:rPr>
                            <m:t>𝑎</m:t>
                          </m:r>
                        </m:num>
                        <m:den>
                          <m:sSup>
                            <m:sSupPr>
                              <m:ctrlPr>
                                <a:rPr lang="ar-AE" sz="1600" i="1">
                                  <a:latin typeface="Cambria Math" panose="02040503050406030204" pitchFamily="18" charset="0"/>
                                </a:rPr>
                              </m:ctrlPr>
                            </m:sSupPr>
                            <m:e>
                              <m:r>
                                <a:rPr lang="ar-AE" sz="1600" b="0" i="1">
                                  <a:latin typeface="Cambria Math" panose="02040503050406030204" pitchFamily="18" charset="0"/>
                                </a:rPr>
                                <m:t>𝑎</m:t>
                              </m:r>
                            </m:e>
                            <m:sup>
                              <m:r>
                                <a:rPr lang="ar-AE" sz="1600" b="0" i="0">
                                  <a:latin typeface="Cambria Math" panose="02040503050406030204" pitchFamily="18" charset="0"/>
                                </a:rPr>
                                <m:t>2</m:t>
                              </m:r>
                            </m:sup>
                          </m:sSup>
                          <m:r>
                            <a:rPr lang="ar-AE" sz="1600" b="0" i="0">
                              <a:latin typeface="Cambria Math" panose="02040503050406030204" pitchFamily="18" charset="0"/>
                            </a:rPr>
                            <m:t>+</m:t>
                          </m:r>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r>
                                    <a:rPr lang="ar-AE" sz="1600" b="0" i="0">
                                      <a:latin typeface="Cambria Math" panose="02040503050406030204" pitchFamily="18" charset="0"/>
                                    </a:rPr>
                                    <m:t>2</m:t>
                                  </m:r>
                                  <m:r>
                                    <a:rPr lang="ar-AE" sz="1600" b="0" i="1">
                                      <a:latin typeface="Cambria Math" panose="02040503050406030204" pitchFamily="18" charset="0"/>
                                    </a:rPr>
                                    <m:t>𝜋</m:t>
                                  </m:r>
                                  <m:r>
                                    <a:rPr lang="ar-AE" sz="1600" b="0" i="1">
                                      <a:latin typeface="Cambria Math" panose="02040503050406030204" pitchFamily="18" charset="0"/>
                                    </a:rPr>
                                    <m:t>𝑓</m:t>
                                  </m:r>
                                </m:e>
                              </m:d>
                            </m:e>
                            <m:sup>
                              <m:r>
                                <a:rPr lang="ar-AE" sz="1600" b="0" i="0">
                                  <a:latin typeface="Cambria Math" panose="02040503050406030204" pitchFamily="18" charset="0"/>
                                </a:rPr>
                                <m:t>2</m:t>
                              </m:r>
                            </m:sup>
                          </m:sSup>
                        </m:den>
                      </m:f>
                    </m:oMath>
                  </m:oMathPara>
                </a14:m>
                <a:endParaRPr lang="ar-AE" sz="1600" dirty="0"/>
              </a:p>
              <a:p>
                <a:pPr>
                  <a:buNone/>
                </a:pPr>
                <a:r>
                  <a:rPr lang="en-IN" sz="1600" dirty="0"/>
                  <a:t>is always positive, confirming the non-negativity property.</a:t>
                </a:r>
              </a:p>
              <a:p>
                <a:pPr>
                  <a:buNone/>
                </a:pPr>
                <a:endParaRPr lang="en-IN" sz="1600" dirty="0"/>
              </a:p>
              <a:p>
                <a:pPr>
                  <a:buFont typeface="+mj-lt"/>
                  <a:buAutoNum type="arabicPeriod" startAt="4"/>
                </a:pPr>
                <a:r>
                  <a:rPr lang="en-IN" sz="1600" dirty="0"/>
                  <a:t>The PSD has a peak at zero frequency </a:t>
                </a:r>
                <a14:m>
                  <m:oMath xmlns:m="http://schemas.openxmlformats.org/officeDocument/2006/math">
                    <m:d>
                      <m:dPr>
                        <m:ctrlPr>
                          <a:rPr lang="ar-AE" sz="1600" i="1">
                            <a:latin typeface="Cambria Math" panose="02040503050406030204" pitchFamily="18" charset="0"/>
                          </a:rPr>
                        </m:ctrlPr>
                      </m:dPr>
                      <m:e>
                        <m:r>
                          <a:rPr lang="ar-AE" sz="1600" b="0" i="1">
                            <a:latin typeface="Cambria Math" panose="02040503050406030204" pitchFamily="18" charset="0"/>
                          </a:rPr>
                          <m:t>𝑓</m:t>
                        </m:r>
                        <m:r>
                          <a:rPr lang="ar-AE" sz="1600" b="0" i="0">
                            <a:latin typeface="Cambria Math" panose="02040503050406030204" pitchFamily="18" charset="0"/>
                          </a:rPr>
                          <m:t>=</m:t>
                        </m:r>
                        <m:r>
                          <a:rPr lang="ar-AE" sz="1600" b="0" i="0">
                            <a:latin typeface="Cambria Math" panose="02040503050406030204" pitchFamily="18" charset="0"/>
                          </a:rPr>
                          <m:t>0</m:t>
                        </m:r>
                      </m:e>
                    </m:d>
                  </m:oMath>
                </a14:m>
                <a:r>
                  <a:rPr lang="ar-AE" sz="1600" dirty="0"/>
                  <a:t>, </a:t>
                </a:r>
                <a:r>
                  <a:rPr lang="en-IN" sz="1600" dirty="0"/>
                  <a:t>meaning most signal power is concentrated at low frequencies. </a:t>
                </a:r>
              </a:p>
              <a:p>
                <a:endParaRPr lang="en-IN" sz="1600" dirty="0"/>
              </a:p>
              <a:p>
                <a:pPr>
                  <a:buFont typeface="+mj-lt"/>
                  <a:buAutoNum type="arabicPeriod" startAt="4"/>
                </a:pPr>
                <a:r>
                  <a:rPr lang="en-IN" sz="1600" dirty="0"/>
                  <a:t>The analytical PSD curve is smooth and symmetric, clearly showing:</a:t>
                </a:r>
              </a:p>
              <a:p>
                <a:pPr>
                  <a:buNone/>
                </a:pPr>
                <a:endParaRPr lang="ar-AE" sz="1600" dirty="0"/>
              </a:p>
              <a:p>
                <a:pPr>
                  <a:buFont typeface="+mj-lt"/>
                  <a:buAutoNum type="arabicPeriod" startAt="6"/>
                </a:pPr>
                <a:r>
                  <a:rPr lang="en-IN" sz="1600" dirty="0"/>
                  <a:t>The symmetry check graph shows perfect overlap of </a:t>
                </a:r>
                <a14:m>
                  <m:oMath xmlns:m="http://schemas.openxmlformats.org/officeDocument/2006/math">
                    <m:sSub>
                      <m:sSubPr>
                        <m:ctrlPr>
                          <a:rPr lang="ar-AE" sz="1600" i="1">
                            <a:latin typeface="Cambria Math" panose="02040503050406030204" pitchFamily="18" charset="0"/>
                          </a:rPr>
                        </m:ctrlPr>
                      </m:sSubPr>
                      <m:e>
                        <m:r>
                          <a:rPr lang="ar-AE" sz="1600" b="0" i="1">
                            <a:latin typeface="Cambria Math" panose="02040503050406030204" pitchFamily="18" charset="0"/>
                          </a:rPr>
                          <m:t>𝑆</m:t>
                        </m:r>
                      </m:e>
                      <m:sub>
                        <m:r>
                          <a:rPr lang="ar-AE" sz="1600" b="0" i="1">
                            <a:latin typeface="Cambria Math" panose="02040503050406030204" pitchFamily="18" charset="0"/>
                          </a:rPr>
                          <m:t>𝑋</m:t>
                        </m:r>
                      </m:sub>
                    </m:sSub>
                    <m:d>
                      <m:dPr>
                        <m:ctrlPr>
                          <a:rPr lang="ar-AE" sz="1600" i="1">
                            <a:latin typeface="Cambria Math" panose="02040503050406030204" pitchFamily="18" charset="0"/>
                          </a:rPr>
                        </m:ctrlPr>
                      </m:dPr>
                      <m:e>
                        <m:r>
                          <a:rPr lang="ar-AE" sz="1600" b="0" i="1">
                            <a:latin typeface="Cambria Math" panose="02040503050406030204" pitchFamily="18" charset="0"/>
                          </a:rPr>
                          <m:t>𝑓</m:t>
                        </m:r>
                      </m:e>
                    </m:d>
                  </m:oMath>
                </a14:m>
                <a:r>
                  <a:rPr lang="en-IN" sz="1600" dirty="0"/>
                  <a:t>and </a:t>
                </a:r>
                <a14:m>
                  <m:oMath xmlns:m="http://schemas.openxmlformats.org/officeDocument/2006/math">
                    <m:sSub>
                      <m:sSubPr>
                        <m:ctrlPr>
                          <a:rPr lang="ar-AE" sz="1600" i="1">
                            <a:latin typeface="Cambria Math" panose="02040503050406030204" pitchFamily="18" charset="0"/>
                          </a:rPr>
                        </m:ctrlPr>
                      </m:sSubPr>
                      <m:e>
                        <m:r>
                          <a:rPr lang="ar-AE" sz="1600" b="0" i="1">
                            <a:latin typeface="Cambria Math" panose="02040503050406030204" pitchFamily="18" charset="0"/>
                          </a:rPr>
                          <m:t>𝑆</m:t>
                        </m:r>
                      </m:e>
                      <m:sub>
                        <m:r>
                          <a:rPr lang="ar-AE" sz="1600" b="0" i="1">
                            <a:latin typeface="Cambria Math" panose="02040503050406030204" pitchFamily="18" charset="0"/>
                          </a:rPr>
                          <m:t>𝑋</m:t>
                        </m:r>
                      </m:sub>
                    </m:sSub>
                    <m:d>
                      <m:dPr>
                        <m:ctrlPr>
                          <a:rPr lang="ar-AE" sz="1600" i="1">
                            <a:latin typeface="Cambria Math" panose="02040503050406030204" pitchFamily="18" charset="0"/>
                          </a:rPr>
                        </m:ctrlPr>
                      </m:dPr>
                      <m:e>
                        <m:r>
                          <a:rPr lang="ar-AE" sz="1600" b="0" i="0">
                            <a:latin typeface="Cambria Math" panose="02040503050406030204" pitchFamily="18" charset="0"/>
                          </a:rPr>
                          <m:t>−</m:t>
                        </m:r>
                        <m:r>
                          <a:rPr lang="ar-AE" sz="1600" b="0" i="1">
                            <a:latin typeface="Cambria Math" panose="02040503050406030204" pitchFamily="18" charset="0"/>
                          </a:rPr>
                          <m:t>𝑓</m:t>
                        </m:r>
                      </m:e>
                    </m:d>
                  </m:oMath>
                </a14:m>
                <a:r>
                  <a:rPr lang="ar-AE" sz="1600" dirty="0"/>
                  <a:t>, </a:t>
                </a:r>
                <a:r>
                  <a:rPr lang="en-IN" sz="1600" dirty="0"/>
                  <a:t>with negligible error, confirming even symmetry mathematically. </a:t>
                </a:r>
              </a:p>
              <a:p>
                <a:endParaRPr lang="en-IN" sz="1600" dirty="0"/>
              </a:p>
              <a:p>
                <a:pPr>
                  <a:buFont typeface="+mj-lt"/>
                  <a:buAutoNum type="arabicPeriod" startAt="6"/>
                </a:pPr>
                <a:r>
                  <a:rPr lang="en-IN" sz="1600" dirty="0"/>
                  <a:t>The FFT-based PSD (periodogram) also shows symmetry about zero frequency and maintains non-negative values, validating the properties numerically. </a:t>
                </a:r>
              </a:p>
              <a:p>
                <a:pPr>
                  <a:buFont typeface="+mj-lt"/>
                  <a:buAutoNum type="arabicPeriod" startAt="6"/>
                </a:pPr>
                <a:endParaRPr lang="en-IN" sz="1600" dirty="0"/>
              </a:p>
              <a:p>
                <a:pPr>
                  <a:buFont typeface="+mj-lt"/>
                  <a:buAutoNum type="arabicPeriod" startAt="6"/>
                </a:pPr>
                <a:r>
                  <a:rPr lang="en-IN" sz="1600" dirty="0"/>
                  <a:t>Although the FFT PSD contains random fluctuations due to finite data and noise, its overall shape follows the Lorentzian spectrum, matching the theoretical result.</a:t>
                </a:r>
              </a:p>
            </p:txBody>
          </p:sp>
        </mc:Choice>
        <mc:Fallback>
          <p:sp>
            <p:nvSpPr>
              <p:cNvPr id="3" name="TextBox 2">
                <a:extLst>
                  <a:ext uri="{FF2B5EF4-FFF2-40B4-BE49-F238E27FC236}">
                    <a16:creationId xmlns:a16="http://schemas.microsoft.com/office/drawing/2014/main" id="{DF9E80BD-7B5C-E029-E3C4-2060EC8EE35C}"/>
                  </a:ext>
                </a:extLst>
              </p:cNvPr>
              <p:cNvSpPr txBox="1">
                <a:spLocks noRot="1" noChangeAspect="1" noMove="1" noResize="1" noEditPoints="1" noAdjustHandles="1" noChangeArrowheads="1" noChangeShapeType="1" noTextEdit="1"/>
              </p:cNvSpPr>
              <p:nvPr/>
            </p:nvSpPr>
            <p:spPr>
              <a:xfrm>
                <a:off x="481780" y="858285"/>
                <a:ext cx="11228439" cy="5280741"/>
              </a:xfrm>
              <a:prstGeom prst="rect">
                <a:avLst/>
              </a:prstGeom>
              <a:blipFill>
                <a:blip r:embed="rId2"/>
                <a:stretch>
                  <a:fillRect l="-380" t="-693" b="-577"/>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4D226502-0DFA-2378-D2FE-975163B6A649}"/>
              </a:ext>
            </a:extLst>
          </p:cNvPr>
          <p:cNvSpPr txBox="1"/>
          <p:nvPr/>
        </p:nvSpPr>
        <p:spPr>
          <a:xfrm>
            <a:off x="0" y="79914"/>
            <a:ext cx="5712542" cy="707886"/>
          </a:xfrm>
          <a:prstGeom prst="rect">
            <a:avLst/>
          </a:prstGeom>
          <a:noFill/>
        </p:spPr>
        <p:txBody>
          <a:bodyPr wrap="square" rtlCol="0">
            <a:spAutoFit/>
          </a:bodyPr>
          <a:lstStyle/>
          <a:p>
            <a:r>
              <a:rPr lang="en-IN" sz="4000" dirty="0"/>
              <a:t>OBSERVATIONS</a:t>
            </a:r>
          </a:p>
        </p:txBody>
      </p:sp>
    </p:spTree>
    <p:extLst>
      <p:ext uri="{BB962C8B-B14F-4D97-AF65-F5344CB8AC3E}">
        <p14:creationId xmlns:p14="http://schemas.microsoft.com/office/powerpoint/2010/main" val="4086816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71611-8679-098C-EA93-1CDF74234C3F}"/>
              </a:ext>
            </a:extLst>
          </p:cNvPr>
          <p:cNvSpPr>
            <a:spLocks noGrp="1"/>
          </p:cNvSpPr>
          <p:nvPr>
            <p:ph type="title"/>
          </p:nvPr>
        </p:nvSpPr>
        <p:spPr>
          <a:xfrm>
            <a:off x="326922" y="366356"/>
            <a:ext cx="9905999" cy="846307"/>
          </a:xfrm>
        </p:spPr>
        <p:txBody>
          <a:bodyPr/>
          <a:lstStyle/>
          <a:p>
            <a:r>
              <a:rPr lang="en-IN" dirty="0"/>
              <a:t>CONCLUSION</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09E42365-CBCC-16E9-61F1-A14FBD422EC7}"/>
                  </a:ext>
                </a:extLst>
              </p:cNvPr>
              <p:cNvSpPr>
                <a:spLocks noGrp="1"/>
              </p:cNvSpPr>
              <p:nvPr>
                <p:ph sz="half" idx="2"/>
              </p:nvPr>
            </p:nvSpPr>
            <p:spPr>
              <a:xfrm>
                <a:off x="491613" y="2192594"/>
                <a:ext cx="10068232" cy="3697505"/>
              </a:xfrm>
            </p:spPr>
            <p:txBody>
              <a:bodyPr>
                <a:normAutofit fontScale="85000" lnSpcReduction="10000"/>
              </a:bodyPr>
              <a:lstStyle/>
              <a:p>
                <a:pPr marL="0" indent="0">
                  <a:buNone/>
                </a:pPr>
                <a:r>
                  <a:rPr lang="en-IN" dirty="0"/>
                  <a:t>This project successfully verifies the fundamental properties of the Power Spectral Density (PSD) of a Wide-Sense Stationary (WSS) random process, namely non-negativity and even symmetry. Using the Wiener–</a:t>
                </a:r>
                <a:r>
                  <a:rPr lang="en-IN" dirty="0" err="1"/>
                  <a:t>Khinchin</a:t>
                </a:r>
                <a:r>
                  <a:rPr lang="en-IN" dirty="0"/>
                  <a:t> theorem, the PSD was derived from the autocorrelation function </a:t>
                </a:r>
                <a14:m>
                  <m:oMath xmlns:m="http://schemas.openxmlformats.org/officeDocument/2006/math">
                    <m:sSub>
                      <m:sSubPr>
                        <m:ctrlPr>
                          <a:rPr lang="ar-AE"/>
                        </m:ctrlPr>
                      </m:sSubPr>
                      <m:e>
                        <m:r>
                          <a:rPr lang="ar-AE" i="1"/>
                          <m:t>𝑅</m:t>
                        </m:r>
                      </m:e>
                      <m:sub>
                        <m:r>
                          <a:rPr lang="ar-AE" i="1"/>
                          <m:t>𝑋</m:t>
                        </m:r>
                      </m:sub>
                    </m:sSub>
                    <m:d>
                      <m:dPr>
                        <m:ctrlPr>
                          <a:rPr lang="ar-AE" i="1"/>
                        </m:ctrlPr>
                      </m:dPr>
                      <m:e>
                        <m:r>
                          <a:rPr lang="ar-AE" i="1"/>
                          <m:t>𝜏</m:t>
                        </m:r>
                      </m:e>
                    </m:d>
                    <m:r>
                      <a:rPr lang="ar-AE"/>
                      <m:t>=</m:t>
                    </m:r>
                    <m:sSup>
                      <m:sSupPr>
                        <m:ctrlPr>
                          <a:rPr lang="ar-AE" i="1"/>
                        </m:ctrlPr>
                      </m:sSupPr>
                      <m:e>
                        <m:r>
                          <a:rPr lang="ar-AE" i="1"/>
                          <m:t>𝑒</m:t>
                        </m:r>
                      </m:e>
                      <m:sup>
                        <m:r>
                          <a:rPr lang="ar-AE"/>
                          <m:t>−</m:t>
                        </m:r>
                        <m:r>
                          <a:rPr lang="ar-AE" i="1"/>
                          <m:t>𝑎</m:t>
                        </m:r>
                        <m:r>
                          <a:rPr lang="ar-AE"/>
                          <m:t>∣</m:t>
                        </m:r>
                        <m:r>
                          <a:rPr lang="ar-AE" i="1"/>
                          <m:t>𝜏</m:t>
                        </m:r>
                        <m:r>
                          <a:rPr lang="ar-AE"/>
                          <m:t>∣</m:t>
                        </m:r>
                      </m:sup>
                    </m:sSup>
                  </m:oMath>
                </a14:m>
                <a:r>
                  <a:rPr lang="ar-AE" dirty="0"/>
                  <a:t>, </a:t>
                </a:r>
                <a:r>
                  <a:rPr lang="en-IN" dirty="0"/>
                  <a:t>resulting in the Lorentzian form </a:t>
                </a:r>
                <a14:m>
                  <m:oMath xmlns:m="http://schemas.openxmlformats.org/officeDocument/2006/math">
                    <m:sSub>
                      <m:sSubPr>
                        <m:ctrlPr>
                          <a:rPr lang="ar-AE"/>
                        </m:ctrlPr>
                      </m:sSubPr>
                      <m:e>
                        <m:r>
                          <a:rPr lang="ar-AE" i="1"/>
                          <m:t>𝑆</m:t>
                        </m:r>
                      </m:e>
                      <m:sub>
                        <m:r>
                          <a:rPr lang="ar-AE" i="1"/>
                          <m:t>𝑋</m:t>
                        </m:r>
                      </m:sub>
                    </m:sSub>
                    <m:d>
                      <m:dPr>
                        <m:ctrlPr>
                          <a:rPr lang="ar-AE" i="1"/>
                        </m:ctrlPr>
                      </m:dPr>
                      <m:e>
                        <m:r>
                          <a:rPr lang="ar-AE" i="1"/>
                          <m:t>𝑓</m:t>
                        </m:r>
                      </m:e>
                    </m:d>
                    <m:r>
                      <a:rPr lang="ar-AE"/>
                      <m:t>=</m:t>
                    </m:r>
                    <m:f>
                      <m:fPr>
                        <m:ctrlPr>
                          <a:rPr lang="ar-AE" i="1"/>
                        </m:ctrlPr>
                      </m:fPr>
                      <m:num>
                        <m:r>
                          <a:rPr lang="ar-AE"/>
                          <m:t>2</m:t>
                        </m:r>
                        <m:r>
                          <a:rPr lang="ar-AE" i="1"/>
                          <m:t>𝑎</m:t>
                        </m:r>
                      </m:num>
                      <m:den>
                        <m:sSup>
                          <m:sSupPr>
                            <m:ctrlPr>
                              <a:rPr lang="ar-AE" i="1"/>
                            </m:ctrlPr>
                          </m:sSupPr>
                          <m:e>
                            <m:r>
                              <a:rPr lang="ar-AE" i="1"/>
                              <m:t>𝑎</m:t>
                            </m:r>
                          </m:e>
                          <m:sup>
                            <m:r>
                              <a:rPr lang="ar-AE"/>
                              <m:t>2</m:t>
                            </m:r>
                          </m:sup>
                        </m:sSup>
                        <m:r>
                          <a:rPr lang="ar-AE"/>
                          <m:t>+</m:t>
                        </m:r>
                        <m:sSup>
                          <m:sSupPr>
                            <m:ctrlPr>
                              <a:rPr lang="ar-AE" i="1"/>
                            </m:ctrlPr>
                          </m:sSupPr>
                          <m:e>
                            <m:d>
                              <m:dPr>
                                <m:ctrlPr>
                                  <a:rPr lang="ar-AE" i="1"/>
                                </m:ctrlPr>
                              </m:dPr>
                              <m:e>
                                <m:r>
                                  <a:rPr lang="ar-AE"/>
                                  <m:t>2</m:t>
                                </m:r>
                                <m:r>
                                  <a:rPr lang="ar-AE" i="1"/>
                                  <m:t>𝜋</m:t>
                                </m:r>
                                <m:r>
                                  <a:rPr lang="ar-AE" i="1"/>
                                  <m:t>𝑓</m:t>
                                </m:r>
                              </m:e>
                            </m:d>
                          </m:e>
                          <m:sup>
                            <m:r>
                              <a:rPr lang="ar-AE"/>
                              <m:t>2</m:t>
                            </m:r>
                          </m:sup>
                        </m:sSup>
                      </m:den>
                    </m:f>
                  </m:oMath>
                </a14:m>
                <a:r>
                  <a:rPr lang="ar-AE" dirty="0"/>
                  <a:t>. </a:t>
                </a:r>
                <a:r>
                  <a:rPr lang="en-IN" dirty="0"/>
                  <a:t>Theoretical analysis clearly shows that the PSD is always non-negative and symmetric about zero frequency. These properties were further validated through MATLAB simulations using both analytical and FFT-based approaches. The graphical results confirmed that the PSD remains positive and exhibits perfect symmetry, even under practical conditions with finite data. Although minor fluctuations were observed in the simulated PSD, the overall </a:t>
                </a:r>
                <a:r>
                  <a:rPr lang="en-IN" dirty="0" err="1"/>
                  <a:t>behavior</a:t>
                </a:r>
                <a:r>
                  <a:rPr lang="en-IN" dirty="0"/>
                  <a:t> closely matched the theoretical model. Hence, the study establishes that these properties are inherent to WSS processes and are consistently observed in both theory and real-world signal analysis.</a:t>
                </a:r>
              </a:p>
            </p:txBody>
          </p:sp>
        </mc:Choice>
        <mc:Fallback>
          <p:sp>
            <p:nvSpPr>
              <p:cNvPr id="4" name="Content Placeholder 3">
                <a:extLst>
                  <a:ext uri="{FF2B5EF4-FFF2-40B4-BE49-F238E27FC236}">
                    <a16:creationId xmlns:a16="http://schemas.microsoft.com/office/drawing/2014/main" id="{09E42365-CBCC-16E9-61F1-A14FBD422EC7}"/>
                  </a:ext>
                </a:extLst>
              </p:cNvPr>
              <p:cNvSpPr>
                <a:spLocks noGrp="1" noRot="1" noChangeAspect="1" noMove="1" noResize="1" noEditPoints="1" noAdjustHandles="1" noChangeArrowheads="1" noChangeShapeType="1" noTextEdit="1"/>
              </p:cNvSpPr>
              <p:nvPr>
                <p:ph sz="half" idx="2"/>
              </p:nvPr>
            </p:nvSpPr>
            <p:spPr>
              <a:xfrm>
                <a:off x="491613" y="2192594"/>
                <a:ext cx="10068232" cy="3697505"/>
              </a:xfrm>
              <a:blipFill>
                <a:blip r:embed="rId2"/>
                <a:stretch>
                  <a:fillRect l="-424" t="-165"/>
                </a:stretch>
              </a:blipFill>
            </p:spPr>
            <p:txBody>
              <a:bodyPr/>
              <a:lstStyle/>
              <a:p>
                <a:r>
                  <a:rPr lang="en-IN">
                    <a:noFill/>
                  </a:rPr>
                  <a:t> </a:t>
                </a:r>
              </a:p>
            </p:txBody>
          </p:sp>
        </mc:Fallback>
      </mc:AlternateContent>
    </p:spTree>
    <p:extLst>
      <p:ext uri="{BB962C8B-B14F-4D97-AF65-F5344CB8AC3E}">
        <p14:creationId xmlns:p14="http://schemas.microsoft.com/office/powerpoint/2010/main" val="2649482203"/>
      </p:ext>
    </p:extLst>
  </p:cSld>
  <p:clrMapOvr>
    <a:masterClrMapping/>
  </p:clrMapOvr>
</p:sld>
</file>

<file path=ppt/theme/theme1.xml><?xml version="1.0" encoding="utf-8"?>
<a:theme xmlns:a="http://schemas.openxmlformats.org/drawingml/2006/main" name="RegattaVTI">
  <a:themeElements>
    <a:clrScheme name="Regatta Yellow">
      <a:dk1>
        <a:sysClr val="windowText" lastClr="000000"/>
      </a:dk1>
      <a:lt1>
        <a:sysClr val="window" lastClr="FFFFFF"/>
      </a:lt1>
      <a:dk2>
        <a:srgbClr val="181C30"/>
      </a:dk2>
      <a:lt2>
        <a:srgbClr val="C8E1F4"/>
      </a:lt2>
      <a:accent1>
        <a:srgbClr val="217ED3"/>
      </a:accent1>
      <a:accent2>
        <a:srgbClr val="B92525"/>
      </a:accent2>
      <a:accent3>
        <a:srgbClr val="18558C"/>
      </a:accent3>
      <a:accent4>
        <a:srgbClr val="1D8B35"/>
      </a:accent4>
      <a:accent5>
        <a:srgbClr val="EA75AA"/>
      </a:accent5>
      <a:accent6>
        <a:srgbClr val="F5A700"/>
      </a:accent6>
      <a:hlink>
        <a:srgbClr val="DB0000"/>
      </a:hlink>
      <a:folHlink>
        <a:srgbClr val="066BB6"/>
      </a:folHlink>
    </a:clrScheme>
    <a:fontScheme name="Walbaum Display">
      <a:majorFont>
        <a:latin typeface="Walbaum Display"/>
        <a:ea typeface=""/>
        <a:cs typeface=""/>
      </a:majorFont>
      <a:minorFont>
        <a:latin typeface="Walbaum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gattaVTI" id="{FFC3BCE5-6357-41D1-8E67-3F85B69D7E86}" vid="{893A6374-FE17-48E5-8B62-678C1B11AA1B}"/>
    </a:ext>
  </a:extLst>
</a:theme>
</file>

<file path=docProps/app.xml><?xml version="1.0" encoding="utf-8"?>
<Properties xmlns="http://schemas.openxmlformats.org/officeDocument/2006/extended-properties" xmlns:vt="http://schemas.openxmlformats.org/officeDocument/2006/docPropsVTypes">
  <TotalTime>594</TotalTime>
  <Words>1000</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 Black</vt:lpstr>
      <vt:lpstr>Aptos ExtraBold</vt:lpstr>
      <vt:lpstr>Arial</vt:lpstr>
      <vt:lpstr>Cambria Math</vt:lpstr>
      <vt:lpstr>Georgia</vt:lpstr>
      <vt:lpstr>Walbaum Display</vt:lpstr>
      <vt:lpstr>RegattaVTI</vt:lpstr>
      <vt:lpstr>Verification of the Non-Negativity and Even Symmetry Properties of the Power Spectral Density.                       ~ RANDOM PROCESS</vt:lpstr>
      <vt:lpstr>            PURPOSE</vt:lpstr>
      <vt:lpstr>                         INTRODUCTION</vt:lpstr>
      <vt:lpstr>MATHEMATICAL MODEL</vt:lpstr>
      <vt:lpstr>POWER SPECTRAL DENSITY</vt:lpstr>
      <vt:lpstr>PowerPoint Presentation</vt:lpstr>
      <vt:lpstr>PowerPoint Presentation</vt:lpstr>
      <vt:lpstr>PowerPoint Presentation</vt:lpstr>
      <vt:lpstr>MATLAB GRAPHS</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SRAJAN GUPTA</dc:creator>
  <cp:lastModifiedBy>SRAJAN GUPTA</cp:lastModifiedBy>
  <cp:revision>9</cp:revision>
  <dcterms:created xsi:type="dcterms:W3CDTF">2025-08-28T20:48:20Z</dcterms:created>
  <dcterms:modified xsi:type="dcterms:W3CDTF">2026-04-07T18:42:02Z</dcterms:modified>
</cp:coreProperties>
</file>